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61" r:id="rId6"/>
    <p:sldId id="260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F421-AD68-3A4C-9339-D8D244B459A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811EE-DC9A-1449-A395-2E12AD6A8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811EE-DC9A-1449-A395-2E12AD6A86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76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B280-C046-BD17-842B-9AC39A9D7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8179A-77BF-015F-607B-FFECDDFCB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3F9E4-5F06-392D-69E9-DF77D1C3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9703-DEAE-5410-8873-C8D55D4A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C57DD-1E06-9FC3-AC29-5ECCE784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7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FB84-8572-F5CA-701B-5658DCA73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Futura Medium" panose="020B0602020204020303" pitchFamily="34" charset="-79"/>
                <a:cs typeface="Futura Medium" panose="020B06020202040203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0E4CC-5CAE-50CD-1CF6-B19F6F22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alatino" pitchFamily="2" charset="77"/>
                <a:ea typeface="Palatino" pitchFamily="2" charset="77"/>
              </a:defRPr>
            </a:lvl1pPr>
            <a:lvl2pPr>
              <a:defRPr>
                <a:latin typeface="Palatino" pitchFamily="2" charset="77"/>
                <a:ea typeface="Palatino" pitchFamily="2" charset="77"/>
              </a:defRPr>
            </a:lvl2pPr>
            <a:lvl3pPr>
              <a:defRPr>
                <a:latin typeface="Palatino" pitchFamily="2" charset="77"/>
                <a:ea typeface="Palatino" pitchFamily="2" charset="77"/>
              </a:defRPr>
            </a:lvl3pPr>
            <a:lvl4pPr>
              <a:defRPr>
                <a:latin typeface="Palatino" pitchFamily="2" charset="77"/>
                <a:ea typeface="Palatino" pitchFamily="2" charset="77"/>
              </a:defRPr>
            </a:lvl4pPr>
            <a:lvl5pPr>
              <a:defRPr>
                <a:latin typeface="Palatino" pitchFamily="2" charset="77"/>
                <a:ea typeface="Palatino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EFE1-4FBB-20D1-7760-D5C23F0D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49AC8-DDEC-DFAC-42A2-5169EDD8D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00336-DDD4-0A78-58EF-31C3D3C1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1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DBA9-67D0-4091-B6D5-49ACF7123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D8E29-2115-9C70-6C1F-A708370A2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00ED1-77CC-C014-69F6-D68598B9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640C4-5B7D-FF1D-AB17-39AE402C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06C6-4841-B1F6-29CD-213AA1E1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32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A817-EF83-11B7-794E-01AEBAA5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0BACB-9E8C-EF5D-E805-1114C1D9E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07741-AB5B-031E-4E20-478CB0935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F3432-B6ED-3E90-2F41-FBF81A69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2B3E6-4B31-D953-1603-B115084F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AB6B-8782-660D-D3BF-DCA3E524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BAFF-EB32-B8DB-B68B-703E4A7A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889E-3811-143D-3912-8098C3CDF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923AE-76C3-1B1E-7F0C-B33DFED0D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96835-AE42-941F-DEB8-753A5929F4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5ECE1-4D01-910A-5D80-3D41B247A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3FD2F-BF10-A03D-EE2C-BCFF864B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4E8BC-B65A-AFEF-550A-1477363C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CC8E1-51E8-7392-EE1A-C83DCC8E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97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43F46-B59F-33AB-7D2E-CC7F3500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90174-3649-796C-5305-964439B6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00C5C-FA4A-31E3-E883-94EB8D73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E6D92-C760-EBAF-EE6E-E95DA1F5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4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89809-4D6D-CE1C-11C4-186516E3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424CF-5382-5722-D3F6-E6AE94C4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1301-8014-9788-70F1-6FE8E3DF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9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02365-B34E-3737-84E6-008EAAC8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1BF4-CA29-F909-D46F-E0B806F2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96796-9DE4-4168-77A7-DB4FD3668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DA0C3-8836-D0C1-D373-EB470E7C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B3EA6-3E05-4AB6-DB6A-08459FEF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2477-F830-D4F9-97DC-B4E8F30A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9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4DA0-7ECD-026E-6E84-D177A5BB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07D5B-F1A2-F763-F35E-9B39CF544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113EE-A2D9-31DC-C89C-BC2035672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15D2-3677-7308-F29A-5A27A766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3BAA1-7F61-8656-7662-D3F19B64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661E0-FD7D-BC44-EF46-8D531EBF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5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33750-5FB5-F7ED-64DD-B8211D1B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7AC78-9952-7BA2-2B52-5CA071451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A43D-4D14-AC90-CEFC-023D78AD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AFC2F-87AB-640E-689C-6068F67B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AFF75-2E40-AFCA-E4E9-58AB2E61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71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BEFAF-3411-3759-CC48-890291FAB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0A055-3E99-A48F-C31E-59F218ADB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1089A-7F8B-C756-4684-A724C7A2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D2201-151A-C29E-2824-4389B5AE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291C-9E95-F1AE-DD44-9DF76564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B8584-DE10-ABCB-BD5F-532B13DB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3E9B6-9DDE-CBB3-ECC9-9627AB2C9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B62C6-5708-2340-9CEF-D1D3005CB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FB11B-ED4D-B045-9B05-114954C113ED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C28A-B5F3-BB90-2DA8-B67860A3C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82952-F540-8236-81B7-198F332FF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F7FA5-31D0-C44B-A168-C4EAC34B0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5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467E-FF5B-4766-69F6-723510AAB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Fellowship project: Modelling viral interference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02E94-918C-8971-5CBE-91C97B4320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29 May 2025</a:t>
            </a:r>
          </a:p>
        </p:txBody>
      </p:sp>
    </p:spTree>
    <p:extLst>
      <p:ext uri="{BB962C8B-B14F-4D97-AF65-F5344CB8AC3E}">
        <p14:creationId xmlns:p14="http://schemas.microsoft.com/office/powerpoint/2010/main" val="395240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DF88-DFA1-DA0A-2B63-44B5C03E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26068-5D7D-71E1-9EAA-CF943484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8934"/>
          </a:xfrm>
        </p:spPr>
        <p:txBody>
          <a:bodyPr/>
          <a:lstStyle/>
          <a:p>
            <a:r>
              <a:rPr lang="en-US" dirty="0"/>
              <a:t>Simulating multiple respiratory viruses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47DD55-F720-430D-A079-64DE7C7A5607}"/>
              </a:ext>
            </a:extLst>
          </p:cNvPr>
          <p:cNvGrpSpPr/>
          <p:nvPr/>
        </p:nvGrpSpPr>
        <p:grpSpPr>
          <a:xfrm>
            <a:off x="838200" y="2880680"/>
            <a:ext cx="3165954" cy="3305524"/>
            <a:chOff x="758769" y="861487"/>
            <a:chExt cx="4696490" cy="49035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7E581F-FBD5-E776-2452-B9714715FD3D}"/>
                </a:ext>
              </a:extLst>
            </p:cNvPr>
            <p:cNvSpPr/>
            <p:nvPr/>
          </p:nvSpPr>
          <p:spPr>
            <a:xfrm>
              <a:off x="1433790" y="861487"/>
              <a:ext cx="986971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S</a:t>
              </a:r>
              <a:r>
                <a:rPr lang="en-US" sz="2000" baseline="-25000" dirty="0">
                  <a:latin typeface="Helvetica" pitchFamily="2" charset="0"/>
                </a:rPr>
                <a:t>1</a:t>
              </a:r>
              <a:endParaRPr lang="en-US" sz="2000" dirty="0">
                <a:latin typeface="Helvetica" pitchFamily="2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7C2A3C-BFDE-48B3-5AD4-D4C27727986C}"/>
                </a:ext>
              </a:extLst>
            </p:cNvPr>
            <p:cNvSpPr/>
            <p:nvPr/>
          </p:nvSpPr>
          <p:spPr>
            <a:xfrm>
              <a:off x="4468287" y="861487"/>
              <a:ext cx="986972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I</a:t>
              </a:r>
              <a:r>
                <a:rPr lang="en-US" sz="2000" baseline="-25000" dirty="0">
                  <a:latin typeface="Helvetica" pitchFamily="2" charset="0"/>
                </a:rPr>
                <a:t>1</a:t>
              </a:r>
              <a:endParaRPr lang="en-US" sz="2000" dirty="0">
                <a:latin typeface="Helvetica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5D8F23-E07C-F59A-2567-479BB3B7080C}"/>
                </a:ext>
              </a:extLst>
            </p:cNvPr>
            <p:cNvSpPr/>
            <p:nvPr/>
          </p:nvSpPr>
          <p:spPr>
            <a:xfrm>
              <a:off x="1433790" y="2819767"/>
              <a:ext cx="986971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S</a:t>
              </a:r>
              <a:r>
                <a:rPr lang="en-US" sz="2000" baseline="-25000" dirty="0">
                  <a:latin typeface="Helvetica" pitchFamily="2" charset="0"/>
                </a:rPr>
                <a:t>2</a:t>
              </a:r>
              <a:endParaRPr lang="en-US" sz="2000" dirty="0">
                <a:latin typeface="Helvetica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FC013F-16F6-311A-FB06-4E557563395E}"/>
                </a:ext>
              </a:extLst>
            </p:cNvPr>
            <p:cNvSpPr/>
            <p:nvPr/>
          </p:nvSpPr>
          <p:spPr>
            <a:xfrm>
              <a:off x="4468286" y="2819766"/>
              <a:ext cx="986971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I</a:t>
              </a:r>
              <a:r>
                <a:rPr lang="en-US" sz="2000" baseline="-25000" dirty="0">
                  <a:latin typeface="Helvetica" pitchFamily="2" charset="0"/>
                </a:rPr>
                <a:t>2</a:t>
              </a:r>
              <a:endParaRPr lang="en-US" sz="2000" dirty="0"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A75094-ADB2-B5B6-3269-5BEE43DFC22A}"/>
                </a:ext>
              </a:extLst>
            </p:cNvPr>
            <p:cNvSpPr/>
            <p:nvPr/>
          </p:nvSpPr>
          <p:spPr>
            <a:xfrm>
              <a:off x="1433791" y="4778049"/>
              <a:ext cx="986971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S</a:t>
              </a:r>
              <a:r>
                <a:rPr lang="en-US" sz="2000" baseline="-25000" dirty="0">
                  <a:latin typeface="Helvetica" pitchFamily="2" charset="0"/>
                </a:rPr>
                <a:t>3</a:t>
              </a:r>
              <a:endParaRPr lang="en-US" sz="2000" dirty="0"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187068-D48B-2960-233D-7AC2F6B54E8D}"/>
                </a:ext>
              </a:extLst>
            </p:cNvPr>
            <p:cNvSpPr/>
            <p:nvPr/>
          </p:nvSpPr>
          <p:spPr>
            <a:xfrm>
              <a:off x="4468287" y="4778049"/>
              <a:ext cx="986971" cy="9869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I</a:t>
              </a:r>
              <a:r>
                <a:rPr lang="en-US" sz="2000" baseline="-25000" dirty="0">
                  <a:latin typeface="Helvetica" pitchFamily="2" charset="0"/>
                </a:rPr>
                <a:t>3</a:t>
              </a:r>
              <a:endParaRPr lang="en-US" sz="2000" dirty="0">
                <a:latin typeface="Helvetica" pitchFamily="2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034C31B-2408-0DC5-5916-09C586A4F195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2420762" y="1354973"/>
              <a:ext cx="20475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857552B-8841-83AB-4720-A106E118D1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0761" y="1848458"/>
              <a:ext cx="2047525" cy="9713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39739DE-3FE6-ACA2-32BD-31B38E6D12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0761" y="3806737"/>
              <a:ext cx="2047525" cy="97130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DD9511E-3C2E-7EB7-1A0D-001E44FBAE03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60" y="5063190"/>
              <a:ext cx="20475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8BFD4D3-597E-76BA-2E4B-02E1EE0977CF}"/>
                </a:ext>
              </a:extLst>
            </p:cNvPr>
            <p:cNvCxnSpPr>
              <a:cxnSpLocks/>
            </p:cNvCxnSpPr>
            <p:nvPr/>
          </p:nvCxnSpPr>
          <p:spPr>
            <a:xfrm>
              <a:off x="2420761" y="3313251"/>
              <a:ext cx="20475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658E421-F390-BF95-834A-E4E809085312}"/>
                </a:ext>
              </a:extLst>
            </p:cNvPr>
            <p:cNvCxnSpPr>
              <a:cxnSpLocks/>
              <a:stCxn id="8" idx="0"/>
              <a:endCxn id="6" idx="2"/>
            </p:cNvCxnSpPr>
            <p:nvPr/>
          </p:nvCxnSpPr>
          <p:spPr>
            <a:xfrm flipH="1" flipV="1">
              <a:off x="1927276" y="3806738"/>
              <a:ext cx="1" cy="97131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986B0C-5CB3-398D-A099-E25B5C6F5236}"/>
                </a:ext>
              </a:extLst>
            </p:cNvPr>
            <p:cNvSpPr txBox="1"/>
            <p:nvPr/>
          </p:nvSpPr>
          <p:spPr>
            <a:xfrm>
              <a:off x="2873235" y="985637"/>
              <a:ext cx="1063368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latin typeface="Helvetica" pitchFamily="2" charset="0"/>
                </a:rPr>
                <a:t>Infection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7F841E-0ACC-D101-1A8A-44A19B021571}"/>
                </a:ext>
              </a:extLst>
            </p:cNvPr>
            <p:cNvSpPr txBox="1"/>
            <p:nvPr/>
          </p:nvSpPr>
          <p:spPr>
            <a:xfrm rot="20103768">
              <a:off x="2825274" y="2012362"/>
              <a:ext cx="1159292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latin typeface="Helvetica" pitchFamily="2" charset="0"/>
                </a:rPr>
                <a:t>Recovery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512C07-4FFD-12A7-2640-81C4A45BB51A}"/>
                </a:ext>
              </a:extLst>
            </p:cNvPr>
            <p:cNvSpPr txBox="1"/>
            <p:nvPr/>
          </p:nvSpPr>
          <p:spPr>
            <a:xfrm>
              <a:off x="758769" y="3969226"/>
              <a:ext cx="1107996" cy="6463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1100" dirty="0">
                  <a:latin typeface="Helvetica" pitchFamily="2" charset="0"/>
                </a:rPr>
                <a:t>Waning</a:t>
              </a:r>
            </a:p>
            <a:p>
              <a:r>
                <a:rPr lang="en-US" sz="1100" dirty="0">
                  <a:latin typeface="Helvetica" pitchFamily="2" charset="0"/>
                </a:rPr>
                <a:t>immunity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CD07976-F637-602F-EFFD-C5D155B0A4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0760" y="5491454"/>
              <a:ext cx="20475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8" name="Picture 27" descr="A diagram of a graph&#10;&#10;AI-generated content may be incorrect.">
            <a:extLst>
              <a:ext uri="{FF2B5EF4-FFF2-40B4-BE49-F238E27FC236}">
                <a16:creationId xmlns:a16="http://schemas.microsoft.com/office/drawing/2014/main" id="{032B254D-6F5F-B884-6E3E-BD0A54E9D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48" y="2580296"/>
            <a:ext cx="7772400" cy="1340068"/>
          </a:xfrm>
          <a:prstGeom prst="rect">
            <a:avLst/>
          </a:prstGeom>
        </p:spPr>
      </p:pic>
      <p:pic>
        <p:nvPicPr>
          <p:cNvPr id="30" name="Picture 29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565CF9A3-5CEC-4ADB-4DA1-E2AE7C05D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648" y="3920364"/>
            <a:ext cx="7772400" cy="1340068"/>
          </a:xfrm>
          <a:prstGeom prst="rect">
            <a:avLst/>
          </a:prstGeom>
        </p:spPr>
      </p:pic>
      <p:pic>
        <p:nvPicPr>
          <p:cNvPr id="32" name="Picture 31" descr="A diagram of a graph&#10;&#10;AI-generated content may be incorrect.">
            <a:extLst>
              <a:ext uri="{FF2B5EF4-FFF2-40B4-BE49-F238E27FC236}">
                <a16:creationId xmlns:a16="http://schemas.microsoft.com/office/drawing/2014/main" id="{B9105632-71A4-6CC0-F959-437FBAB82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648" y="5244770"/>
            <a:ext cx="7772400" cy="134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5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8619-27A0-C97F-0E4B-C2FBB2A4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AEBA0-1603-2C8F-C4A5-FF3CDDBF8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Viral interference has been demonstrated in biological studies</a:t>
            </a:r>
          </a:p>
          <a:p>
            <a:endParaRPr lang="en-US" dirty="0"/>
          </a:p>
          <a:p>
            <a:r>
              <a:rPr lang="en-US" dirty="0"/>
              <a:t>There are few population-level modelling studies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29470-3C6D-F192-4A38-B5E9FA9A8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2560531" cy="2976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79D2F2-07AF-80A3-AB3C-015FB90E4E50}"/>
              </a:ext>
            </a:extLst>
          </p:cNvPr>
          <p:cNvSpPr txBox="1"/>
          <p:nvPr/>
        </p:nvSpPr>
        <p:spPr>
          <a:xfrm>
            <a:off x="9133634" y="3563937"/>
            <a:ext cx="27786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Sarah C Kramer, Sarah Pirikahu, Jean-Sébastien Casalegno &amp; Matthieu Domenech de Cellès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Nature Communications, 2024</a:t>
            </a:r>
          </a:p>
        </p:txBody>
      </p:sp>
      <p:pic>
        <p:nvPicPr>
          <p:cNvPr id="7" name="Content Placeholder 14" descr="A comparison of a graph&#10;&#10;AI-generated content may be incorrect.">
            <a:extLst>
              <a:ext uri="{FF2B5EF4-FFF2-40B4-BE49-F238E27FC236}">
                <a16:creationId xmlns:a16="http://schemas.microsoft.com/office/drawing/2014/main" id="{371BB215-FB44-0C70-412A-DCE3C451A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041" y="3517167"/>
            <a:ext cx="5478282" cy="2124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8230DA-6F55-C27E-A37F-756D0871A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041" y="5729379"/>
            <a:ext cx="5478282" cy="6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8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A912-170F-750C-80DD-DA2BEFFB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64C8-5356-823E-5D61-7DE95365C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Aim 1</a:t>
            </a:r>
          </a:p>
          <a:p>
            <a:pPr lvl="1"/>
            <a:r>
              <a:rPr lang="en-US" dirty="0"/>
              <a:t>Build and calibrate a dynamical model of multiple respiratory infections, incorporating viral interference.</a:t>
            </a:r>
          </a:p>
          <a:p>
            <a:endParaRPr lang="en-US" dirty="0"/>
          </a:p>
          <a:p>
            <a:r>
              <a:rPr lang="en-US" dirty="0"/>
              <a:t>Aim 2</a:t>
            </a:r>
          </a:p>
          <a:p>
            <a:pPr lvl="1"/>
            <a:r>
              <a:rPr lang="en-US" dirty="0"/>
              <a:t>Simulate how interference affects vaccination campaigns’ impact on outbreak timing, and the effects of timing on vaccine campaigns’ efficacy.</a:t>
            </a:r>
          </a:p>
          <a:p>
            <a:endParaRPr lang="en-US" dirty="0"/>
          </a:p>
          <a:p>
            <a:r>
              <a:rPr lang="en-US" dirty="0"/>
              <a:t>Aim 3</a:t>
            </a:r>
          </a:p>
          <a:p>
            <a:pPr lvl="1"/>
            <a:r>
              <a:rPr lang="en-US" dirty="0"/>
              <a:t>Develop a framework for surveillance through viral interference.</a:t>
            </a:r>
          </a:p>
        </p:txBody>
      </p:sp>
    </p:spTree>
    <p:extLst>
      <p:ext uri="{BB962C8B-B14F-4D97-AF65-F5344CB8AC3E}">
        <p14:creationId xmlns:p14="http://schemas.microsoft.com/office/powerpoint/2010/main" val="177325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9AFF-8A4E-45AE-AD03-A67FF7D24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2FBC5-6495-5463-F254-D79F3C420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Kaiser</a:t>
            </a:r>
          </a:p>
          <a:p>
            <a:pPr lvl="1"/>
            <a:r>
              <a:rPr lang="en-US" dirty="0"/>
              <a:t>Viral panel testing data with linked hospital admissions data</a:t>
            </a:r>
          </a:p>
          <a:p>
            <a:pPr lvl="1"/>
            <a:r>
              <a:rPr lang="en-US" dirty="0"/>
              <a:t>2015–2023</a:t>
            </a:r>
          </a:p>
          <a:p>
            <a:pPr lvl="1"/>
            <a:r>
              <a:rPr lang="en-US" dirty="0"/>
              <a:t>Demographic and SES information</a:t>
            </a:r>
          </a:p>
          <a:p>
            <a:endParaRPr lang="en-US" dirty="0"/>
          </a:p>
          <a:p>
            <a:r>
              <a:rPr lang="en-US" dirty="0"/>
              <a:t>NHS</a:t>
            </a:r>
          </a:p>
          <a:p>
            <a:pPr lvl="1"/>
            <a:r>
              <a:rPr lang="en-US" dirty="0"/>
              <a:t>Can take a long time to acquire</a:t>
            </a:r>
          </a:p>
          <a:p>
            <a:pPr lvl="1"/>
            <a:r>
              <a:rPr lang="en-US" dirty="0"/>
              <a:t>Aiming for similar variables to Kaiser—if linking can work</a:t>
            </a:r>
          </a:p>
        </p:txBody>
      </p:sp>
    </p:spTree>
    <p:extLst>
      <p:ext uri="{BB962C8B-B14F-4D97-AF65-F5344CB8AC3E}">
        <p14:creationId xmlns:p14="http://schemas.microsoft.com/office/powerpoint/2010/main" val="472162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CECD-E979-A3A5-0DD5-5F9D5068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780B-39CA-2858-BD03-09415BFA5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Calibrated unified model of multiple respiratory pathogens</a:t>
            </a:r>
          </a:p>
          <a:p>
            <a:endParaRPr lang="en-US" dirty="0"/>
          </a:p>
          <a:p>
            <a:r>
              <a:rPr lang="en-US" dirty="0"/>
              <a:t>Statistical analysis of simultaneous infection in Kaiser data</a:t>
            </a:r>
          </a:p>
          <a:p>
            <a:pPr lvl="1"/>
            <a:r>
              <a:rPr lang="en-US" dirty="0"/>
              <a:t>2-way contingency tables stratified by NDI and race/ethnicity</a:t>
            </a:r>
          </a:p>
          <a:p>
            <a:pPr lvl="1"/>
            <a:r>
              <a:rPr lang="en-US" dirty="0"/>
              <a:t>CMH test for odds ratios and p-values</a:t>
            </a:r>
          </a:p>
          <a:p>
            <a:pPr lvl="1"/>
            <a:r>
              <a:rPr lang="en-US" dirty="0"/>
              <a:t>Bias introduced by symptomatic testing, adjusted based on proportion of symptomatic infections</a:t>
            </a:r>
          </a:p>
        </p:txBody>
      </p:sp>
    </p:spTree>
    <p:extLst>
      <p:ext uri="{BB962C8B-B14F-4D97-AF65-F5344CB8AC3E}">
        <p14:creationId xmlns:p14="http://schemas.microsoft.com/office/powerpoint/2010/main" val="160079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0B64B38-E8A6-7A4D-C0D8-164308459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9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66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6A7FB-A17E-0442-B2AB-885669DC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29490"/>
            <a:ext cx="10905066" cy="179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2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197</Words>
  <Application>Microsoft Macintosh PowerPoint</Application>
  <PresentationFormat>Widescreen</PresentationFormat>
  <Paragraphs>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Futura Medium</vt:lpstr>
      <vt:lpstr>Helvetica</vt:lpstr>
      <vt:lpstr>Palatino</vt:lpstr>
      <vt:lpstr>Office Theme</vt:lpstr>
      <vt:lpstr>Fellowship project: Modelling viral interference</vt:lpstr>
      <vt:lpstr>Current work</vt:lpstr>
      <vt:lpstr>Background</vt:lpstr>
      <vt:lpstr>Aims</vt:lpstr>
      <vt:lpstr>Data</vt:lpstr>
      <vt:lpstr>Preliminary 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4</cp:revision>
  <dcterms:created xsi:type="dcterms:W3CDTF">2025-05-29T17:00:54Z</dcterms:created>
  <dcterms:modified xsi:type="dcterms:W3CDTF">2025-05-30T23:16:24Z</dcterms:modified>
</cp:coreProperties>
</file>