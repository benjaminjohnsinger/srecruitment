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10"/>
  </p:normalViewPr>
  <p:slideViewPr>
    <p:cSldViewPr snapToGrid="0">
      <p:cViewPr varScale="1">
        <p:scale>
          <a:sx n="111" d="100"/>
          <a:sy n="111" d="100"/>
        </p:scale>
        <p:origin x="44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292EB-EA50-2C3B-934B-EFF1959B85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20E0CF-B2A7-B2FC-8C2E-A604FED3B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609D40-0A62-F725-ED69-7831EA4A9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21125-C215-BC4E-8175-0386382C0FD6}" type="datetimeFigureOut">
              <a:rPr lang="en-US" smtClean="0"/>
              <a:t>10/3/24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645384-DC51-FD20-1505-B39774472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05A32-E7AE-53D4-FFE0-A0C4E20C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532F7-C9FF-9048-901C-2BCDDA43ED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553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C5578-4D29-607E-569C-E81FCDB58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790FE9-3160-4A10-0201-8451AF770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88AAAA-A642-BA93-C6FC-5E392FA0F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21125-C215-BC4E-8175-0386382C0FD6}" type="datetimeFigureOut">
              <a:rPr lang="en-US" smtClean="0"/>
              <a:t>10/3/24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0EC5EA-596D-49B9-3CF0-4B5F51BD5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D0855-C0F3-3172-A388-A4455E100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532F7-C9FF-9048-901C-2BCDDA43ED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252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C9E93-451C-AD94-0570-B62C786CD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AB398E-4CC0-5B9C-C3AB-DF64B96746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8CEDE-652D-C9A8-51F8-17E2887E3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21125-C215-BC4E-8175-0386382C0FD6}" type="datetimeFigureOut">
              <a:rPr lang="en-US" smtClean="0"/>
              <a:t>10/3/24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2CE3C7-3090-9F39-EAE2-B35519F7D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32E0B-FD21-3B15-80F1-57FB817F9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532F7-C9FF-9048-901C-2BCDDA43ED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907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A72B0-8973-F2A2-9D04-B9C4EAF9D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CCC17-DA92-DAF4-F90B-306543C229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2D136C-AC2C-E02E-CA24-236D023EA9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720E6C-4C0D-1DD3-D4F0-2D8C6D007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21125-C215-BC4E-8175-0386382C0FD6}" type="datetimeFigureOut">
              <a:rPr lang="en-US" smtClean="0"/>
              <a:t>10/3/24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3FE4C2-041A-6139-68E1-FE24923E8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8EAD51-1583-BFF4-F568-0B28CFF79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532F7-C9FF-9048-901C-2BCDDA43ED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246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27F1F-F02C-D8D1-518A-3E51F5404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EC4D59-C048-CF77-4CF8-65421B3941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3FF3DB-D50A-2140-5C95-B1F5A43C1B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E2C785-F900-A0F8-1BA8-E3D3FA963B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6744CE-913A-C814-3031-6D90740E38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C7F38A-A6E6-6B2A-A4D8-9864A0D85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21125-C215-BC4E-8175-0386382C0FD6}" type="datetimeFigureOut">
              <a:rPr lang="en-US" smtClean="0"/>
              <a:t>10/3/24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206F3C-E734-5288-7887-5499A0963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F3BE97-2E30-02B4-6482-7BCF54B92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532F7-C9FF-9048-901C-2BCDDA43ED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443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7D4EF-DCC3-7880-4363-CA21757C4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5414B7-8833-2ED7-49B3-73764D80F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21125-C215-BC4E-8175-0386382C0FD6}" type="datetimeFigureOut">
              <a:rPr lang="en-US" smtClean="0"/>
              <a:t>10/3/24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A5C3FE-88DE-9FAA-07E6-D6B3042AC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E9F67E-8868-5E1E-9188-8302A978C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532F7-C9FF-9048-901C-2BCDDA43ED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260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8CA1B1-B31D-8AE2-67F6-A8D9FAF23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21125-C215-BC4E-8175-0386382C0FD6}" type="datetimeFigureOut">
              <a:rPr lang="en-US" smtClean="0"/>
              <a:t>10/3/24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5B926C-0AC5-84B0-A4FA-EF9DD2EB6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A3448D-6A50-0EEB-7953-0FB621AA8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532F7-C9FF-9048-901C-2BCDDA43ED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286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5E366-AF01-5D04-F434-5CCCC3FB7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BCD91-C30C-742A-02FE-F380E2690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8D0BFA-0560-B50D-ED35-9914028CB1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138172-F2E6-D27A-E2AF-E43E34E3C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21125-C215-BC4E-8175-0386382C0FD6}" type="datetimeFigureOut">
              <a:rPr lang="en-US" smtClean="0"/>
              <a:t>10/3/24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BD4125-2A0B-9238-AB6E-92CD976D9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DA1DA-6CB7-5081-6237-06489F2AC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532F7-C9FF-9048-901C-2BCDDA43ED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391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AA94D-CCA1-24B4-634A-D56FAB9A1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7592DB-2CD4-DF8A-0490-8EDB02325D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DFBF64-6B77-8801-BA39-F4DC41B52B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5ABF52-5838-6F21-A8E8-EC4365820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21125-C215-BC4E-8175-0386382C0FD6}" type="datetimeFigureOut">
              <a:rPr lang="en-US" smtClean="0"/>
              <a:t>10/3/24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D16F2C-CE42-8920-91D7-2F86F8DFA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206B66-7079-4AD5-A509-2EAA42498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532F7-C9FF-9048-901C-2BCDDA43ED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530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AE2DC-6D5A-1DE0-9B0E-6246C70E2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08B276-DF40-9399-302C-5D50D497B4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E372A5-30DC-5BE7-961F-27FDD7338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21125-C215-BC4E-8175-0386382C0FD6}" type="datetimeFigureOut">
              <a:rPr lang="en-US" smtClean="0"/>
              <a:t>10/3/24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13B741-E44C-948E-F37E-9C0F975F6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42A1B8-B84F-1912-7D68-BEB8A931C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532F7-C9FF-9048-901C-2BCDDA43ED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962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E430D5-15AA-C587-B3B0-550DE44E26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A1A53D-7FC8-EBED-88A5-DC65F0EFE2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A75043-FFD4-29E2-60B9-DFAB6EDED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21125-C215-BC4E-8175-0386382C0FD6}" type="datetimeFigureOut">
              <a:rPr lang="en-US" smtClean="0"/>
              <a:t>10/3/24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0A311F-D6E5-4701-D4A1-A4260CD8F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5409B5-D26E-8488-95E3-9A6825659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532F7-C9FF-9048-901C-2BCDDA43ED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203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2C642A-AE0C-429E-3CAC-9EB4F92E8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0C29B8-DCDE-B622-5554-16E88A5C78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20AAB-4CBD-FC0D-0E5C-D08362DBB4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721125-C215-BC4E-8175-0386382C0FD6}" type="datetimeFigureOut">
              <a:rPr lang="en-US" smtClean="0"/>
              <a:t>10/3/24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942FC8-C695-766C-D930-BDABD6B9F7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23B5A5-AE22-3840-F1B4-043AA5A71D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0532F7-C9FF-9048-901C-2BCDDA43ED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134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jpg"/><Relationship Id="rId5" Type="http://schemas.openxmlformats.org/officeDocument/2006/relationships/image" Target="../media/image4.png"/><Relationship Id="rId10" Type="http://schemas.openxmlformats.org/officeDocument/2006/relationships/image" Target="../media/image9.jp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black outline of a state&#10;&#10;Description automatically generated">
            <a:extLst>
              <a:ext uri="{FF2B5EF4-FFF2-40B4-BE49-F238E27FC236}">
                <a16:creationId xmlns:a16="http://schemas.microsoft.com/office/drawing/2014/main" id="{B5278B01-53FE-1AD3-B26F-F5B4126CE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4367" y="3753102"/>
            <a:ext cx="2670865" cy="2136692"/>
          </a:xfrm>
          <a:prstGeom prst="rect">
            <a:avLst/>
          </a:prstGeom>
        </p:spPr>
      </p:pic>
      <p:pic>
        <p:nvPicPr>
          <p:cNvPr id="4" name="Picture 3" descr="A black and white cover of a book&#10;&#10;Description automatically generated">
            <a:extLst>
              <a:ext uri="{FF2B5EF4-FFF2-40B4-BE49-F238E27FC236}">
                <a16:creationId xmlns:a16="http://schemas.microsoft.com/office/drawing/2014/main" id="{F9A9E456-A366-DCF5-4833-4649989671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740" y="493295"/>
            <a:ext cx="3474349" cy="5730263"/>
          </a:xfrm>
          <a:prstGeom prst="rect">
            <a:avLst/>
          </a:prstGeom>
        </p:spPr>
      </p:pic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C1A1AD26-D535-C0D1-9C2F-6172A89157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6028" y="1186790"/>
            <a:ext cx="2432950" cy="1203252"/>
          </a:xfrm>
          <a:prstGeom prst="rect">
            <a:avLst/>
          </a:prstGeom>
        </p:spPr>
      </p:pic>
      <p:pic>
        <p:nvPicPr>
          <p:cNvPr id="6" name="Picture 5" descr="A logo of a tree&#10;&#10;Description automatically generated">
            <a:extLst>
              <a:ext uri="{FF2B5EF4-FFF2-40B4-BE49-F238E27FC236}">
                <a16:creationId xmlns:a16="http://schemas.microsoft.com/office/drawing/2014/main" id="{96A66AFD-70DA-7542-97C4-9F37DC1FA7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2000" y="518416"/>
            <a:ext cx="2540000" cy="2540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75CB96A-0FA2-A962-7B2A-9EEBD09B89E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34472" y="3114546"/>
            <a:ext cx="3109012" cy="3109012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5A2DB70-9271-8EB3-CAEB-7F1AA851847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551281" y="3841662"/>
            <a:ext cx="1182126" cy="1936767"/>
          </a:xfrm>
          <a:prstGeom prst="rect">
            <a:avLst/>
          </a:prstGeom>
        </p:spPr>
      </p:pic>
      <p:pic>
        <p:nvPicPr>
          <p:cNvPr id="16" name="Picture 15" descr="A close-up of a microscopic image&#10;&#10;Description automatically generated">
            <a:extLst>
              <a:ext uri="{FF2B5EF4-FFF2-40B4-BE49-F238E27FC236}">
                <a16:creationId xmlns:a16="http://schemas.microsoft.com/office/drawing/2014/main" id="{8510CBF5-C8F3-581B-51ED-561454E4282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18553" y="223466"/>
            <a:ext cx="1540849" cy="1186790"/>
          </a:xfrm>
          <a:prstGeom prst="rect">
            <a:avLst/>
          </a:prstGeom>
        </p:spPr>
      </p:pic>
      <p:pic>
        <p:nvPicPr>
          <p:cNvPr id="20" name="Picture 19" descr="A person with a beard and glasses smiling&#10;&#10;Description automatically generated">
            <a:extLst>
              <a:ext uri="{FF2B5EF4-FFF2-40B4-BE49-F238E27FC236}">
                <a16:creationId xmlns:a16="http://schemas.microsoft.com/office/drawing/2014/main" id="{73DA7D97-34EF-99B0-63DB-CB572113ED7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78693" y="493295"/>
            <a:ext cx="2540000" cy="2540000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1F2851F-5C08-641A-272B-397172712176}"/>
              </a:ext>
            </a:extLst>
          </p:cNvPr>
          <p:cNvCxnSpPr>
            <a:cxnSpLocks/>
          </p:cNvCxnSpPr>
          <p:nvPr/>
        </p:nvCxnSpPr>
        <p:spPr>
          <a:xfrm flipV="1">
            <a:off x="4501516" y="4770304"/>
            <a:ext cx="2117177" cy="760166"/>
          </a:xfrm>
          <a:prstGeom prst="straightConnector1">
            <a:avLst/>
          </a:prstGeom>
          <a:ln w="571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4268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8D13F-13CD-0D87-8C44-37A0654B2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Futura Medium" panose="020B0602020204020303" pitchFamily="34" charset="-79"/>
                <a:cs typeface="Futura Medium" panose="020B0602020204020303" pitchFamily="34" charset="-79"/>
              </a:rPr>
              <a:t>Pathogens recovered differently after suppression during the pandemic</a:t>
            </a:r>
          </a:p>
        </p:txBody>
      </p:sp>
      <p:pic>
        <p:nvPicPr>
          <p:cNvPr id="5" name="Content Placeholder 4" descr="A graph of virus and influenza&#10;&#10;Description automatically generated with medium confidence">
            <a:extLst>
              <a:ext uri="{FF2B5EF4-FFF2-40B4-BE49-F238E27FC236}">
                <a16:creationId xmlns:a16="http://schemas.microsoft.com/office/drawing/2014/main" id="{8682A97E-5C13-73CF-2C5E-D44FFD72CB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85738"/>
            <a:ext cx="10515600" cy="3631111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923779F-EAEF-7854-8619-A4E163ABF82D}"/>
              </a:ext>
            </a:extLst>
          </p:cNvPr>
          <p:cNvSpPr txBox="1"/>
          <p:nvPr/>
        </p:nvSpPr>
        <p:spPr>
          <a:xfrm>
            <a:off x="7716033" y="6127233"/>
            <a:ext cx="3367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Dagan et al. </a:t>
            </a:r>
            <a:r>
              <a:rPr lang="en-US" dirty="0" err="1"/>
              <a:t>eBioMedicine</a:t>
            </a:r>
            <a:r>
              <a:rPr lang="en-US" dirty="0"/>
              <a:t>, 2023</a:t>
            </a:r>
          </a:p>
        </p:txBody>
      </p:sp>
    </p:spTree>
    <p:extLst>
      <p:ext uri="{BB962C8B-B14F-4D97-AF65-F5344CB8AC3E}">
        <p14:creationId xmlns:p14="http://schemas.microsoft.com/office/powerpoint/2010/main" val="93887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7B1A4-C9C6-7D4B-DF77-04A0C3343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Futura Medium" panose="020B0602020204020303" pitchFamily="34" charset="-79"/>
                <a:cs typeface="Futura Medium" panose="020B0602020204020303" pitchFamily="34" charset="-79"/>
              </a:rPr>
              <a:t>Hypothesis: growth rate and susceptibility drive recovery</a:t>
            </a:r>
          </a:p>
        </p:txBody>
      </p:sp>
      <p:pic>
        <p:nvPicPr>
          <p:cNvPr id="5" name="Picture 4" descr="A diagram of a block diagram&#10;&#10;Description automatically generated">
            <a:extLst>
              <a:ext uri="{FF2B5EF4-FFF2-40B4-BE49-F238E27FC236}">
                <a16:creationId xmlns:a16="http://schemas.microsoft.com/office/drawing/2014/main" id="{9B96ABA0-C4E1-90C1-DFA7-3BF70D4F9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8437" y="1866053"/>
            <a:ext cx="6335125" cy="42889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C303DBD-CAB9-9D67-F412-85A99A56222B}"/>
              </a:ext>
            </a:extLst>
          </p:cNvPr>
          <p:cNvSpPr txBox="1"/>
          <p:nvPr/>
        </p:nvSpPr>
        <p:spPr>
          <a:xfrm>
            <a:off x="8680537" y="6275540"/>
            <a:ext cx="2726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Pitzer et al. Science, 2009</a:t>
            </a:r>
          </a:p>
        </p:txBody>
      </p:sp>
    </p:spTree>
    <p:extLst>
      <p:ext uri="{BB962C8B-B14F-4D97-AF65-F5344CB8AC3E}">
        <p14:creationId xmlns:p14="http://schemas.microsoft.com/office/powerpoint/2010/main" val="1326425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350D5-3D7C-9861-B433-5369F708E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Futura Medium" panose="020B0602020204020303" pitchFamily="34" charset="-79"/>
                <a:cs typeface="Futura Medium" panose="020B0602020204020303" pitchFamily="34" charset="-79"/>
              </a:rPr>
              <a:t>Our model can capture dynamics of differential recovery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6CA0057B-4CC8-03BF-9DCF-4C1BC0216C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0" y="1966260"/>
            <a:ext cx="5658285" cy="4243714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E3886197-50B1-3FC9-1AA4-F3EBDB8DF8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4000" y="1828474"/>
            <a:ext cx="5842000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921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01546-F69C-4794-427D-CB71C1863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Futura Medium" panose="020B0602020204020303" pitchFamily="34" charset="-79"/>
                <a:cs typeface="Futura Medium" panose="020B0602020204020303" pitchFamily="34" charset="-79"/>
              </a:rPr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A675E-089B-80AB-20A6-C3165CDF4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Palatino" pitchFamily="2" charset="77"/>
                <a:ea typeface="Palatino" pitchFamily="2" charset="77"/>
              </a:rPr>
              <a:t>Characterize epi parameters that lead to differential recovery</a:t>
            </a:r>
          </a:p>
          <a:p>
            <a:endParaRPr lang="en-US" dirty="0">
              <a:latin typeface="Palatino" pitchFamily="2" charset="77"/>
              <a:ea typeface="Palatino" pitchFamily="2" charset="77"/>
            </a:endParaRPr>
          </a:p>
          <a:p>
            <a:r>
              <a:rPr lang="en-US" dirty="0">
                <a:latin typeface="Palatino" pitchFamily="2" charset="77"/>
                <a:ea typeface="Palatino" pitchFamily="2" charset="77"/>
              </a:rPr>
              <a:t>Fit model to observed incidence for viral disease</a:t>
            </a:r>
          </a:p>
          <a:p>
            <a:endParaRPr lang="en-US" dirty="0">
              <a:latin typeface="Palatino" pitchFamily="2" charset="77"/>
              <a:ea typeface="Palatino" pitchFamily="2" charset="77"/>
            </a:endParaRPr>
          </a:p>
          <a:p>
            <a:r>
              <a:rPr lang="en-US" dirty="0">
                <a:latin typeface="Palatino" pitchFamily="2" charset="77"/>
                <a:ea typeface="Palatino" pitchFamily="2" charset="77"/>
              </a:rPr>
              <a:t>Understand role of different age groups</a:t>
            </a:r>
          </a:p>
          <a:p>
            <a:endParaRPr lang="en-US" dirty="0">
              <a:latin typeface="Palatino" pitchFamily="2" charset="77"/>
              <a:ea typeface="Palatino" pitchFamily="2" charset="77"/>
            </a:endParaRPr>
          </a:p>
          <a:p>
            <a:r>
              <a:rPr lang="en-US" dirty="0">
                <a:latin typeface="Palatino" pitchFamily="2" charset="77"/>
                <a:ea typeface="Palatino" pitchFamily="2" charset="77"/>
              </a:rPr>
              <a:t>Future applications of the model: </a:t>
            </a:r>
            <a:r>
              <a:rPr lang="en-US" dirty="0" err="1">
                <a:latin typeface="Palatino" pitchFamily="2" charset="77"/>
                <a:ea typeface="Palatino" pitchFamily="2" charset="77"/>
              </a:rPr>
              <a:t>eg</a:t>
            </a:r>
            <a:r>
              <a:rPr lang="en-US" dirty="0">
                <a:latin typeface="Palatino" pitchFamily="2" charset="77"/>
                <a:ea typeface="Palatino" pitchFamily="2" charset="77"/>
              </a:rPr>
              <a:t>, RSV vaccine modelling</a:t>
            </a:r>
          </a:p>
        </p:txBody>
      </p:sp>
    </p:spTree>
    <p:extLst>
      <p:ext uri="{BB962C8B-B14F-4D97-AF65-F5344CB8AC3E}">
        <p14:creationId xmlns:p14="http://schemas.microsoft.com/office/powerpoint/2010/main" val="1279899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ollage of graphs&#10;&#10;Description automatically generated">
            <a:extLst>
              <a:ext uri="{FF2B5EF4-FFF2-40B4-BE49-F238E27FC236}">
                <a16:creationId xmlns:a16="http://schemas.microsoft.com/office/drawing/2014/main" id="{7F09C683-D8A0-6B41-027E-07DED72D4D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48401" y="508933"/>
            <a:ext cx="5943599" cy="5943599"/>
          </a:xfrm>
        </p:spPr>
      </p:pic>
      <p:pic>
        <p:nvPicPr>
          <p:cNvPr id="7" name="Picture 6" descr="A group of graphs showing different age groups&#10;&#10;Description automatically generated">
            <a:extLst>
              <a:ext uri="{FF2B5EF4-FFF2-40B4-BE49-F238E27FC236}">
                <a16:creationId xmlns:a16="http://schemas.microsoft.com/office/drawing/2014/main" id="{ED7EC3BF-90C9-A48A-7492-D999D51671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508933"/>
            <a:ext cx="5943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1790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</TotalTime>
  <Words>73</Words>
  <Application>Microsoft Macintosh PowerPoint</Application>
  <PresentationFormat>Widescreen</PresentationFormat>
  <Paragraphs>13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Futura Medium</vt:lpstr>
      <vt:lpstr>Palatino</vt:lpstr>
      <vt:lpstr>Office Theme</vt:lpstr>
      <vt:lpstr>PowerPoint Presentation</vt:lpstr>
      <vt:lpstr>Pathogens recovered differently after suppression during the pandemic</vt:lpstr>
      <vt:lpstr>Hypothesis: growth rate and susceptibility drive recovery</vt:lpstr>
      <vt:lpstr>Our model can capture dynamics of differential recovery</vt:lpstr>
      <vt:lpstr>Next steps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Benjamin Singer</dc:creator>
  <cp:lastModifiedBy>Benjamin Singer</cp:lastModifiedBy>
  <cp:revision>3</cp:revision>
  <dcterms:created xsi:type="dcterms:W3CDTF">2024-09-26T17:18:53Z</dcterms:created>
  <dcterms:modified xsi:type="dcterms:W3CDTF">2024-10-03T18:56:38Z</dcterms:modified>
</cp:coreProperties>
</file>