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95" d="100"/>
          <a:sy n="95" d="100"/>
        </p:scale>
        <p:origin x="166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73542-56C3-E84E-88BA-1D3ADF9CA884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BEB60-7EA7-9845-9DBC-4BE7F1729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6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2576-90EA-9216-9C28-F70437D6F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73EEF-3044-91C5-8156-04F8D1449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106D7-3627-7E6B-31D6-D3846BB9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0B1FF-1A76-941C-B47C-68C7D7A0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701A-E31D-E445-A843-EE0AB98F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7091-ECBB-F93C-28CC-8D69F887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ADF5-135F-93D7-E188-30AC25255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C7C5-089F-FCC5-129A-07867A7C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75FFA-378C-AD98-52E2-5A5843CC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25F30-E344-1AAC-4659-4F52E662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5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CE8C-A7BE-4A0A-2BF3-4C00A737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5A05B-364B-A61F-CEA7-6AA8B535E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AFCEF-901B-CA4E-AE32-4CCD2025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DD119-889B-3EEC-519E-0E389632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A7DD0-D171-012B-7974-E00EADC4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3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711D-EF4A-6271-7915-1053F6D6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D537E-9A7B-A586-5BCF-DE1101659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1FB1-E276-A0B8-960B-93EA49248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508FA-403B-ADFB-76EB-398C152D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829B0-1327-0025-53D1-2327A977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D09DF-CEF6-A845-C181-4C6E2224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9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A806-62C8-E037-86F1-F23D92E1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E480-ABB9-EA4E-3778-21E815EE3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EF74E-86B6-D4BF-938F-C3EB86091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FBB30-CF31-63B5-669D-D32B3D899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5C88E-90A4-0E12-5B59-6D3D67D0B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EE397-9850-4FEB-604D-26B068A9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AA0E1-BE4C-5C63-3A5D-B73B9DE6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5625F-2702-5E81-9893-DD0D88B80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1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1244-B29A-0845-16E1-67476E49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F6DC3-0037-1535-E32E-CE69875E1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4E05E-6692-052B-1C9E-1C830E5E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9E8AC-9B55-5CC2-E886-42FA94C8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15B7A-D3B1-AABF-E33D-3A4B0F9F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3E190-0AC2-BF21-2976-AC1F2F61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8F62A-3F28-AD29-583C-C58E7842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1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205E-96F9-8C5F-75EE-50AE3DB0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E9542-BAEF-CEB4-696C-0BB29216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E07F-B536-392E-8A4A-63E45704F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5B662-99E5-11AD-31C0-072921B8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BED97-743E-47AB-B303-76A7FB50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A9F1E-0E3A-61B7-9290-1D70D1DC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0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FBAD-5B0C-E4B3-5345-DACAAE790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1D8E75-6D48-06EB-172E-74153B7A7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ADFBC-2984-7D6A-75D8-0F45F2276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EEFEF-4C5D-971B-29CF-6F71A7085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9C6E3-7853-824A-EE6C-E6A9914B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AB1B7-BA5C-CE0C-8486-35CBD823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7A93-3D4D-9381-B7BC-B4EF5100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0620A-C617-BAAD-5EB0-F57E9F38F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BC555-6B2F-8863-EC27-0D53D93E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97D00-1689-79B9-634A-C4AB9CBB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2E2F-A189-36D2-928A-3744BA83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1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32389-1818-E791-344C-9F99538D9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5EF3C-F426-A34A-1E1B-01D7D8F7B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7E773-7EBC-AAB3-2B2C-0E952782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5B64-0A0D-6C21-93A6-81311C32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07F81-F1E3-1F8E-3579-F74498BC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2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DEE9B-D711-7A7C-F272-67E8C11A8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0DCC-17A9-5C95-2131-C928E996E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2CC3F-6F38-B1FA-1912-4DA991142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4774D-69F0-D349-AC3C-121E123F09BA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C192-2A69-8073-456F-241B017FF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5C6D-95ED-45DA-E998-E2939403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ED19E-89B4-FA41-839E-E85DA73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aseline="-25000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Can have more or fewer susceptibility classes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Compartments can be split into age groups, with contact matrix between age groups (Prem et al.)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B595-66E6-E5FF-20AC-C578215A8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F10C-08BB-FA21-9EDB-59EB2E8FC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Overall infectiousness (including contact rate)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Relative rate of infection for each susceptibility class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Rate of waning immunity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Duration of infection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Seasonal parameters:</a:t>
            </a:r>
          </a:p>
          <a:p>
            <a:pPr lvl="1"/>
            <a:r>
              <a:rPr lang="en-US" dirty="0">
                <a:latin typeface="Palatino" pitchFamily="2" charset="77"/>
                <a:ea typeface="Palatino" pitchFamily="2" charset="77"/>
              </a:rPr>
              <a:t>Amplitude of seasonality – i.e. difference between low- and high- transmission season</a:t>
            </a:r>
          </a:p>
          <a:p>
            <a:pPr lvl="1"/>
            <a:r>
              <a:rPr lang="en-US" dirty="0">
                <a:latin typeface="Palatino" pitchFamily="2" charset="77"/>
                <a:ea typeface="Palatino" pitchFamily="2" charset="77"/>
              </a:rPr>
              <a:t>Phase of seasonality – i.e. when does the high-transmission season occur?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Observation model:</a:t>
            </a:r>
          </a:p>
          <a:p>
            <a:pPr lvl="1"/>
            <a:r>
              <a:rPr lang="en-US" dirty="0">
                <a:latin typeface="Palatino" pitchFamily="2" charset="77"/>
                <a:ea typeface="Palatino" pitchFamily="2" charset="77"/>
              </a:rPr>
              <a:t>Overall probability of observation of an infection (e.g. p of LRTI x p of hospitalization x p of test)</a:t>
            </a:r>
          </a:p>
          <a:p>
            <a:pPr lvl="1"/>
            <a:r>
              <a:rPr lang="en-US" dirty="0">
                <a:latin typeface="Palatino" pitchFamily="2" charset="77"/>
                <a:ea typeface="Palatino" pitchFamily="2" charset="77"/>
              </a:rPr>
              <a:t>Relative probability of observation by age and/or susceptibility class</a:t>
            </a:r>
          </a:p>
          <a:p>
            <a:pPr lvl="1"/>
            <a:endParaRPr lang="en-US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1584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</Words>
  <Application>Microsoft Macintosh PowerPoint</Application>
  <PresentationFormat>Widescreen</PresentationFormat>
  <Paragraphs>29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FUTURA MEDIUM</vt:lpstr>
      <vt:lpstr>Helvetica</vt:lpstr>
      <vt:lpstr>Palatino</vt:lpstr>
      <vt:lpstr>Office Theme</vt:lpstr>
      <vt:lpstr>PowerPoint Presentation</vt:lpstr>
      <vt:lpstr>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1</cp:revision>
  <dcterms:created xsi:type="dcterms:W3CDTF">2024-12-06T00:07:04Z</dcterms:created>
  <dcterms:modified xsi:type="dcterms:W3CDTF">2024-12-06T00:13:55Z</dcterms:modified>
</cp:coreProperties>
</file>