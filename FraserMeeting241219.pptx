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65" r:id="rId4"/>
    <p:sldId id="257" r:id="rId5"/>
    <p:sldId id="274" r:id="rId6"/>
    <p:sldId id="258" r:id="rId7"/>
    <p:sldId id="273" r:id="rId8"/>
    <p:sldId id="264" r:id="rId9"/>
    <p:sldId id="271" r:id="rId10"/>
    <p:sldId id="259" r:id="rId11"/>
    <p:sldId id="261" r:id="rId12"/>
    <p:sldId id="262" r:id="rId13"/>
    <p:sldId id="266" r:id="rId14"/>
    <p:sldId id="269" r:id="rId15"/>
    <p:sldId id="270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6950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outlineViewPr>
    <p:cViewPr>
      <p:scale>
        <a:sx n="45" d="100"/>
        <a:sy n="4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Working as part of the CDC Center for Outbreak Analytics Insight Net project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Kaiser Permanente is leading the grant, we’re providing analysis for their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My remit in particular is to produce models of respiratory infectious diseases, and come up with pandemic preparedness insights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data I’m working with is hospital admissions and testing data from across the KPSC system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aim is to build models that can explain disease transmission, and in particular use post-covid rebound data to uncover dynamics of infectious diseases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dirty="0">
                <a:solidFill>
                  <a:srgbClr val="9A9B99"/>
                </a:solidFill>
                <a:effectLst/>
                <a:latin typeface="Menlo" panose="020B0609030804020204" pitchFamily="49" charset="0"/>
              </a:rPr>
              <a:t>"Los Angeles":10081570,"Kern":887641,"Orange":3168044,"San Diego":3316073,"San Bernardino":2149031,"Riverside":2411439,"Ventura":847263</a:t>
            </a:r>
            <a:endParaRPr lang="en-US" b="0" dirty="0">
              <a:solidFill>
                <a:srgbClr val="C5C8C6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6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Influenza B did come back in the US for 2023 (normal size outbreak), and this year is having a small outbreak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RSV – seasonal forcing vs immune decay – Stefan </a:t>
            </a:r>
            <a:r>
              <a:rPr lang="en-US" dirty="0" err="1"/>
              <a:t>Flasche</a:t>
            </a:r>
            <a:r>
              <a:rPr lang="en-US" dirty="0"/>
              <a:t> LSHTM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 B has a lot of US-internal structure, Flu A less so, essentially panmictic </a:t>
            </a:r>
            <a:r>
              <a:rPr lang="en-US" dirty="0" err="1"/>
              <a:t>bc</a:t>
            </a:r>
            <a:r>
              <a:rPr lang="en-US" dirty="0"/>
              <a:t> it comes from the southern hemisphere -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dirty="0" err="1"/>
              <a:t>america</a:t>
            </a:r>
            <a:r>
              <a:rPr lang="en-US" dirty="0"/>
              <a:t> seasonality affects flu A a 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- Kaiser data is great and includes interesting time series on pathogens outside the normal superstars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hypothesis is that this differences in rebound and age structure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endParaRPr lang="en-US" dirty="0"/>
          </a:p>
          <a:p>
            <a:r>
              <a:rPr lang="en-US" dirty="0"/>
              <a:t>Older children might get severe infection because of less exposure to other pathogens?</a:t>
            </a:r>
          </a:p>
          <a:p>
            <a:r>
              <a:rPr lang="en-US" dirty="0"/>
              <a:t>vs immunity maturation which pushes the other way</a:t>
            </a:r>
          </a:p>
          <a:p>
            <a:r>
              <a:rPr lang="en-US" dirty="0"/>
              <a:t>Immunity works differently &lt;2yo</a:t>
            </a:r>
          </a:p>
          <a:p>
            <a:endParaRPr lang="en-US" dirty="0"/>
          </a:p>
          <a:p>
            <a:r>
              <a:rPr lang="en-US" dirty="0"/>
              <a:t>Interesting plot: For each wave separately, what's the age distribution?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8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now, hoping that waning and immune escape can be treated as equivalent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Next step is to fit to data, for which we have to understand the impact of covid restrictions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Contact rates will have a big effect on how we estimate other parameters, so important to get as realistic as possible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approaches – based on mobility, or based on key dates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Determining change in contact rates is challenge, especially in relaxed period—COMIX data from UK, which provides a starting point but not the whole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Key dates model more successful than mobility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96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This model can produce time series similar to what we observe in the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there are important elements that I can’t capture yet, as demonstrated by the miserable maximum likelihood fit</a:t>
            </a:r>
          </a:p>
          <a:p>
            <a:pPr marL="171450" indent="-171450">
              <a:buFontTx/>
              <a:buChar char="-"/>
            </a:pPr>
            <a:r>
              <a:rPr lang="en-US" dirty="0"/>
              <a:t>While I’m working on developing a good fit, I’ve also done some theoretical work showing what kind of thing we can expect to learn from these fits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Cumulative infections?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7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12/20/24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1233187"/>
            <a:ext cx="9402501" cy="2513313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Using lockdowns as a natural experiment to fix transmission parameters in mechanistic models: WIP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Postdoc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Joe </a:t>
            </a:r>
            <a:r>
              <a:rPr lang="en-US" dirty="0" err="1">
                <a:latin typeface="Palatino" pitchFamily="2" charset="77"/>
                <a:ea typeface="Palatino" pitchFamily="2" charset="77"/>
              </a:rPr>
              <a:t>Lewnard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group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outline of a state&#10;&#10;Description automatically generated">
            <a:extLst>
              <a:ext uri="{FF2B5EF4-FFF2-40B4-BE49-F238E27FC236}">
                <a16:creationId xmlns:a16="http://schemas.microsoft.com/office/drawing/2014/main" id="{B5278B01-53FE-1AD3-B26F-F5B4126C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67" y="3753102"/>
            <a:ext cx="2670865" cy="2136692"/>
          </a:xfrm>
          <a:prstGeom prst="rect">
            <a:avLst/>
          </a:prstGeom>
        </p:spPr>
      </p:pic>
      <p:pic>
        <p:nvPicPr>
          <p:cNvPr id="4" name="Picture 3" descr="A black and white cover of a book&#10;&#10;Description automatically generated">
            <a:extLst>
              <a:ext uri="{FF2B5EF4-FFF2-40B4-BE49-F238E27FC236}">
                <a16:creationId xmlns:a16="http://schemas.microsoft.com/office/drawing/2014/main" id="{F9A9E456-A366-DCF5-4833-46499896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0" y="493295"/>
            <a:ext cx="3474349" cy="5730263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1A1AD26-D535-C0D1-9C2F-6172A891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27" y="1528437"/>
            <a:ext cx="2432950" cy="1203252"/>
          </a:xfrm>
          <a:prstGeom prst="rect">
            <a:avLst/>
          </a:prstGeom>
        </p:spPr>
      </p:pic>
      <p:pic>
        <p:nvPicPr>
          <p:cNvPr id="6" name="Picture 5" descr="A logo of a tree&#10;&#10;Description automatically generated">
            <a:extLst>
              <a:ext uri="{FF2B5EF4-FFF2-40B4-BE49-F238E27FC236}">
                <a16:creationId xmlns:a16="http://schemas.microsoft.com/office/drawing/2014/main" id="{96A66AFD-70DA-7542-97C4-9F37DC1F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518416"/>
            <a:ext cx="2540000" cy="2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75CB96A-0FA2-A962-7B2A-9EEBD09B8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7443" y="3176597"/>
            <a:ext cx="2540000" cy="254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5A2DB70-9271-8EB3-CAEB-7F1AA85184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281" y="3841662"/>
            <a:ext cx="1182126" cy="1936767"/>
          </a:xfrm>
          <a:prstGeom prst="rect">
            <a:avLst/>
          </a:prstGeom>
        </p:spPr>
      </p:pic>
      <p:pic>
        <p:nvPicPr>
          <p:cNvPr id="16" name="Picture 15" descr="A close-up of a microscopic image&#10;&#10;Description automatically generated">
            <a:extLst>
              <a:ext uri="{FF2B5EF4-FFF2-40B4-BE49-F238E27FC236}">
                <a16:creationId xmlns:a16="http://schemas.microsoft.com/office/drawing/2014/main" id="{8510CBF5-C8F3-581B-51ED-561454E42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8553" y="223466"/>
            <a:ext cx="1540849" cy="1186790"/>
          </a:xfrm>
          <a:prstGeom prst="rect">
            <a:avLst/>
          </a:prstGeom>
        </p:spPr>
      </p:pic>
      <p:pic>
        <p:nvPicPr>
          <p:cNvPr id="20" name="Picture 19" descr="A person with a beard and glasses smiling&#10;&#10;Description automatically generated">
            <a:extLst>
              <a:ext uri="{FF2B5EF4-FFF2-40B4-BE49-F238E27FC236}">
                <a16:creationId xmlns:a16="http://schemas.microsoft.com/office/drawing/2014/main" id="{73DA7D97-34EF-99B0-63DB-CB572113E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8693" y="493295"/>
            <a:ext cx="2540000" cy="254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F2851F-5C08-641A-272B-397172712176}"/>
              </a:ext>
            </a:extLst>
          </p:cNvPr>
          <p:cNvCxnSpPr>
            <a:cxnSpLocks/>
          </p:cNvCxnSpPr>
          <p:nvPr/>
        </p:nvCxnSpPr>
        <p:spPr>
          <a:xfrm flipV="1">
            <a:off x="4501516" y="4770304"/>
            <a:ext cx="2117177" cy="760166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26" name="Picture 2" descr="Nathan Lo | Stanford Medicine">
            <a:extLst>
              <a:ext uri="{FF2B5EF4-FFF2-40B4-BE49-F238E27FC236}">
                <a16:creationId xmlns:a16="http://schemas.microsoft.com/office/drawing/2014/main" id="{8766D056-01C7-BD07-2BAD-E11453117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541" y="223466"/>
            <a:ext cx="1084902" cy="1084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oseph Lewnard – Center for Communicable Disease Dynamics">
            <a:extLst>
              <a:ext uri="{FF2B5EF4-FFF2-40B4-BE49-F238E27FC236}">
                <a16:creationId xmlns:a16="http://schemas.microsoft.com/office/drawing/2014/main" id="{CF86E143-28AD-8C03-E2C1-8DA9E6763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9257" y="515635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2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E9DD-9005-782F-30F4-1119711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Center for Outbreak Analytics—Insight Net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909224-F7B9-331E-A768-4D87E9B22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51791"/>
            <a:ext cx="7285095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FCD49A-E091-7506-B013-2D4C517B1F43}"/>
              </a:ext>
            </a:extLst>
          </p:cNvPr>
          <p:cNvSpPr txBox="1"/>
          <p:nvPr/>
        </p:nvSpPr>
        <p:spPr>
          <a:xfrm>
            <a:off x="8123295" y="1875098"/>
            <a:ext cx="32305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Kaiser Permanente Southern California Innovator grant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Partnering to analyze data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>
                <a:latin typeface="Palatino" pitchFamily="2" charset="77"/>
                <a:ea typeface="Palatino" pitchFamily="2" charset="77"/>
              </a:rPr>
              <a:t>Broad pandemic preparedness remit</a:t>
            </a:r>
          </a:p>
        </p:txBody>
      </p:sp>
      <p:pic>
        <p:nvPicPr>
          <p:cNvPr id="1026" name="Picture 2" descr="kaiser-permanente-logo-png-transparent - Cordova Recreation and Park  District">
            <a:extLst>
              <a:ext uri="{FF2B5EF4-FFF2-40B4-BE49-F238E27FC236}">
                <a16:creationId xmlns:a16="http://schemas.microsoft.com/office/drawing/2014/main" id="{DBCD50F3-49D5-3C81-97BB-29339B26E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95" y="3654412"/>
            <a:ext cx="2951577" cy="295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749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20F66475-5FDF-3617-83D7-A7B5F5DD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virus&#10;&#10;Description automatically generated">
            <a:extLst>
              <a:ext uri="{FF2B5EF4-FFF2-40B4-BE49-F238E27FC236}">
                <a16:creationId xmlns:a16="http://schemas.microsoft.com/office/drawing/2014/main" id="{70D7FB6F-C1B0-08B2-670B-35F62E28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blue lines&#10;&#10;Description automatically generated">
            <a:extLst>
              <a:ext uri="{FF2B5EF4-FFF2-40B4-BE49-F238E27FC236}">
                <a16:creationId xmlns:a16="http://schemas.microsoft.com/office/drawing/2014/main" id="{1A45A750-1BFC-B979-C8D4-A49AFBB45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6172200" cy="6172200"/>
          </a:xfrm>
          <a:prstGeom prst="rect">
            <a:avLst/>
          </a:prstGeom>
        </p:spPr>
      </p:pic>
      <p:pic>
        <p:nvPicPr>
          <p:cNvPr id="5" name="Picture 4" descr="A graph of birth rate&#10;&#10;Description automatically generated">
            <a:extLst>
              <a:ext uri="{FF2B5EF4-FFF2-40B4-BE49-F238E27FC236}">
                <a16:creationId xmlns:a16="http://schemas.microsoft.com/office/drawing/2014/main" id="{F10292B9-C92A-1420-84DE-E42A03F2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342899"/>
            <a:ext cx="6014357" cy="60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0DD8C-57EA-69CA-96B3-969C79E2BAA6}"/>
              </a:ext>
            </a:extLst>
          </p:cNvPr>
          <p:cNvSpPr txBox="1"/>
          <p:nvPr/>
        </p:nvSpPr>
        <p:spPr>
          <a:xfrm>
            <a:off x="6489700" y="1066800"/>
            <a:ext cx="509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Key 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2020.03.19—California stay-at-home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2021.04.27—CDC relaxes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2021.12.15—CDC reinstates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2022.03.01—California cancels mask mandate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51EF79-F8ED-3018-6C17-42A2E6BA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806725"/>
              </p:ext>
            </p:extLst>
          </p:nvPr>
        </p:nvGraphicFramePr>
        <p:xfrm>
          <a:off x="6489698" y="3613666"/>
          <a:ext cx="5092701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85902">
                  <a:extLst>
                    <a:ext uri="{9D8B030D-6E8A-4147-A177-3AD203B41FA5}">
                      <a16:colId xmlns:a16="http://schemas.microsoft.com/office/drawing/2014/main" val="255956124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011148142"/>
                    </a:ext>
                  </a:extLst>
                </a:gridCol>
                <a:gridCol w="1930399">
                  <a:extLst>
                    <a:ext uri="{9D8B030D-6E8A-4147-A177-3AD203B41FA5}">
                      <a16:colId xmlns:a16="http://schemas.microsoft.com/office/drawing/2014/main" val="1248671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Min. 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Max. contacts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1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0–4y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78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4–17y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2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18–59y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7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60+y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alatino" pitchFamily="2" charset="77"/>
                          <a:ea typeface="Palatino" pitchFamily="2" charset="77"/>
                        </a:rPr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0647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BA5C2B-E91B-962A-2B5F-21F89DFF4886}"/>
              </a:ext>
            </a:extLst>
          </p:cNvPr>
          <p:cNvSpPr txBox="1"/>
          <p:nvPr/>
        </p:nvSpPr>
        <p:spPr>
          <a:xfrm>
            <a:off x="6489698" y="3244334"/>
            <a:ext cx="5092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COMIX vs POLYMOD mean daily contacts</a:t>
            </a:r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16F5A70-756E-7E33-9344-1DE10851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565150"/>
            <a:ext cx="57277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C8418098-0D16-4EF5-1A91-FCE80E08E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7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53AE0C-80E2-C8D6-32E2-F173D1B891C4}"/>
              </a:ext>
            </a:extLst>
          </p:cNvPr>
          <p:cNvSpPr txBox="1"/>
          <p:nvPr/>
        </p:nvSpPr>
        <p:spPr>
          <a:xfrm>
            <a:off x="457200" y="673100"/>
            <a:ext cx="4039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Fitting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973B7-5C1A-94BA-A9D6-58BC21376E08}"/>
              </a:ext>
            </a:extLst>
          </p:cNvPr>
          <p:cNvSpPr txBox="1"/>
          <p:nvPr/>
        </p:nvSpPr>
        <p:spPr>
          <a:xfrm>
            <a:off x="457201" y="1689100"/>
            <a:ext cx="5651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Starting with RSV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Maximum likelihood assuming Poisson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Difficult to match timing of rebound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Key elements to explore are contact changes, immunity, and seasonal forcing</a:t>
            </a:r>
          </a:p>
        </p:txBody>
      </p:sp>
      <p:pic>
        <p:nvPicPr>
          <p:cNvPr id="6" name="Picture 5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2FB9D6F4-3CEF-12DD-CEC1-E6B69A31A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0"/>
            <a:ext cx="607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79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BDF9-2B05-E04A-4A11-34A9DB2D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Thanks for listening</a:t>
            </a:r>
          </a:p>
        </p:txBody>
      </p:sp>
      <p:pic>
        <p:nvPicPr>
          <p:cNvPr id="5" name="Picture 4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9B962E80-ED97-27CB-5059-D224F34B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194" y="1879373"/>
            <a:ext cx="4865484" cy="3882799"/>
          </a:xfrm>
          <a:prstGeom prst="rect">
            <a:avLst/>
          </a:prstGeom>
        </p:spPr>
      </p:pic>
      <p:pic>
        <p:nvPicPr>
          <p:cNvPr id="7" name="Picture 6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70093E18-CA15-B8F5-60DF-BC57428B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22" y="1690688"/>
            <a:ext cx="5164498" cy="388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94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9A765-E57E-1463-0CEF-A311294E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3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tests&#10;&#10;Description automatically generated">
            <a:extLst>
              <a:ext uri="{FF2B5EF4-FFF2-40B4-BE49-F238E27FC236}">
                <a16:creationId xmlns:a16="http://schemas.microsoft.com/office/drawing/2014/main" id="{BBF079EC-70C1-56DE-8ADE-6042F3C59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9AAF12C6-7B67-10E6-2959-528DF55DF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6" y="307181"/>
            <a:ext cx="11154887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8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7215</TotalTime>
  <Words>812</Words>
  <Application>Microsoft Macintosh PowerPoint</Application>
  <PresentationFormat>Widescreen</PresentationFormat>
  <Paragraphs>116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Futura Medium</vt:lpstr>
      <vt:lpstr>Helvetica</vt:lpstr>
      <vt:lpstr>Menlo</vt:lpstr>
      <vt:lpstr>Palatino</vt:lpstr>
      <vt:lpstr>Wingdings</vt:lpstr>
      <vt:lpstr>Office Theme</vt:lpstr>
      <vt:lpstr>Using lockdowns as a natural experiment to fix transmission parameters in mechanistic models: WIP</vt:lpstr>
      <vt:lpstr>PowerPoint Presentation</vt:lpstr>
      <vt:lpstr>Center for Outbreak Analytics—Insight 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listening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13</cp:revision>
  <dcterms:created xsi:type="dcterms:W3CDTF">2024-11-20T21:22:28Z</dcterms:created>
  <dcterms:modified xsi:type="dcterms:W3CDTF">2024-12-22T15:03:45Z</dcterms:modified>
</cp:coreProperties>
</file>