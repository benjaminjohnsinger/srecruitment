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64" r:id="rId6"/>
    <p:sldId id="259" r:id="rId7"/>
    <p:sldId id="261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6950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Working as part of the CDC Center for Outbreak Analytics Insight Net project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Kaiser Permanente is leading the grant, we’re providing analysis for their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My remit in particular is to produce models of respiratory infectious diseases, and come up with pandemic preparedness insights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data I’m working with is hospital admissions and testing data from across the KPSC system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aim is to build models that can explain disease transmission, and in particular use post-covid rebound data to uncover dynamics of infectious diseases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olidFill>
                  <a:srgbClr val="9A9B99"/>
                </a:solidFill>
                <a:effectLst/>
                <a:latin typeface="Menlo" panose="020B0609030804020204" pitchFamily="49" charset="0"/>
              </a:rPr>
              <a:t>"Los Angeles":10081570,"Kern":887641,"Orange":3168044,"San Diego":3316073,"San Bernardino":2149031,"Riverside":2411439,"Ventura":847263</a:t>
            </a:r>
            <a:endParaRPr lang="en-US" b="0" dirty="0">
              <a:solidFill>
                <a:srgbClr val="C5C8C6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62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hypothesis is that this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Next step is to fit to data, for which we have to understand the impact of covid restrictions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Importation and contact rates will have a big effect on how we estimate other parameters, so important to get as realistic as possible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Importation can be assumed to track with flight data, while changes in contact rate are pegged to key dates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Determining change in contact rates is challenge, especially in relaxed period—COMIX data from UK, which provides a starting point but not the whole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model can produce time series similar to what we observe in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there are important elements that I can’t capture yet, as demonstrated by the miserable maximum likelihood fit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I’m working on developing a good fit, I’ve also done some theoretical work showing what kind of thing we can expect to learn from these fits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1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915687"/>
            <a:ext cx="9402501" cy="2513313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Modelling respiratory diseases in Southern California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UC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E9DD-9005-782F-30F4-1119711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Center for Outbreak Analytics—Insight 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09224-F7B9-331E-A768-4D87E9B22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51791"/>
            <a:ext cx="7285095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FCD49A-E091-7506-B013-2D4C517B1F43}"/>
              </a:ext>
            </a:extLst>
          </p:cNvPr>
          <p:cNvSpPr txBox="1"/>
          <p:nvPr/>
        </p:nvSpPr>
        <p:spPr>
          <a:xfrm>
            <a:off x="8123295" y="1875098"/>
            <a:ext cx="3230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Kaiser Permanente Southern California Innovator grant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Partnering to analyze data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Broad pandemic preparedness remit</a:t>
            </a:r>
          </a:p>
        </p:txBody>
      </p:sp>
      <p:pic>
        <p:nvPicPr>
          <p:cNvPr id="1026" name="Picture 2" descr="kaiser-permanente-logo-png-transparent - Cordova Recreation and Park  District">
            <a:extLst>
              <a:ext uri="{FF2B5EF4-FFF2-40B4-BE49-F238E27FC236}">
                <a16:creationId xmlns:a16="http://schemas.microsoft.com/office/drawing/2014/main" id="{DBCD50F3-49D5-3C81-97BB-29339B26E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95" y="3654412"/>
            <a:ext cx="2951577" cy="295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74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20F66475-5FDF-3617-83D7-A7B5F5DD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blue lines&#10;&#10;Description automatically generated">
            <a:extLst>
              <a:ext uri="{FF2B5EF4-FFF2-40B4-BE49-F238E27FC236}">
                <a16:creationId xmlns:a16="http://schemas.microsoft.com/office/drawing/2014/main" id="{1A45A750-1BFC-B979-C8D4-A49AFBB4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85800"/>
            <a:ext cx="5486400" cy="548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70DD8C-57EA-69CA-96B3-969C79E2BAA6}"/>
              </a:ext>
            </a:extLst>
          </p:cNvPr>
          <p:cNvSpPr txBox="1"/>
          <p:nvPr/>
        </p:nvSpPr>
        <p:spPr>
          <a:xfrm>
            <a:off x="6489700" y="1066800"/>
            <a:ext cx="509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Key 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2020.03.19—California stay-at-home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2021.04.27—CDC relaxes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2021.12.15—CDC reinstates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2022.03.01—California cancels mask mandate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51EF79-F8ED-3018-6C17-42A2E6BA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06725"/>
              </p:ext>
            </p:extLst>
          </p:nvPr>
        </p:nvGraphicFramePr>
        <p:xfrm>
          <a:off x="6489698" y="3613666"/>
          <a:ext cx="5092701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5902">
                  <a:extLst>
                    <a:ext uri="{9D8B030D-6E8A-4147-A177-3AD203B41FA5}">
                      <a16:colId xmlns:a16="http://schemas.microsoft.com/office/drawing/2014/main" val="255956124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011148142"/>
                    </a:ext>
                  </a:extLst>
                </a:gridCol>
                <a:gridCol w="1930399">
                  <a:extLst>
                    <a:ext uri="{9D8B030D-6E8A-4147-A177-3AD203B41FA5}">
                      <a16:colId xmlns:a16="http://schemas.microsoft.com/office/drawing/2014/main" val="1248671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Min.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Max. contacts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1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0–4y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78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4–17y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2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18–59y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7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60+y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0647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BA5C2B-E91B-962A-2B5F-21F89DFF4886}"/>
              </a:ext>
            </a:extLst>
          </p:cNvPr>
          <p:cNvSpPr txBox="1"/>
          <p:nvPr/>
        </p:nvSpPr>
        <p:spPr>
          <a:xfrm>
            <a:off x="6489698" y="3244334"/>
            <a:ext cx="509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COMIX vs POLYMOD mean daily contacts</a:t>
            </a:r>
          </a:p>
        </p:txBody>
      </p:sp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813BBA91-8B92-356E-D660-08AD0B8A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0"/>
            <a:ext cx="60706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53AE0C-80E2-C8D6-32E2-F173D1B891C4}"/>
              </a:ext>
            </a:extLst>
          </p:cNvPr>
          <p:cNvSpPr txBox="1"/>
          <p:nvPr/>
        </p:nvSpPr>
        <p:spPr>
          <a:xfrm>
            <a:off x="457200" y="673100"/>
            <a:ext cx="4039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Fitting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973B7-5C1A-94BA-A9D6-58BC21376E08}"/>
              </a:ext>
            </a:extLst>
          </p:cNvPr>
          <p:cNvSpPr txBox="1"/>
          <p:nvPr/>
        </p:nvSpPr>
        <p:spPr>
          <a:xfrm>
            <a:off x="457201" y="1689100"/>
            <a:ext cx="5651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Starting with RSV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Maximum likelihood assuming Poisson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Challenges include matching timing of rebound peak, and matching extreme low incidence in low transmission season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Key elements to explore are contact changes, immunity, and seasonal forcing</a:t>
            </a:r>
          </a:p>
        </p:txBody>
      </p:sp>
    </p:spTree>
    <p:extLst>
      <p:ext uri="{BB962C8B-B14F-4D97-AF65-F5344CB8AC3E}">
        <p14:creationId xmlns:p14="http://schemas.microsoft.com/office/powerpoint/2010/main" val="179807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BDF9-2B05-E04A-4A11-34A9DB2D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Thanks for listening</a:t>
            </a:r>
          </a:p>
        </p:txBody>
      </p:sp>
      <p:pic>
        <p:nvPicPr>
          <p:cNvPr id="5" name="Picture 4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9B962E80-ED97-27CB-5059-D224F34B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194" y="1879373"/>
            <a:ext cx="4865484" cy="3882799"/>
          </a:xfrm>
          <a:prstGeom prst="rect">
            <a:avLst/>
          </a:prstGeom>
        </p:spPr>
      </p:pic>
      <p:pic>
        <p:nvPicPr>
          <p:cNvPr id="7" name="Picture 6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70093E18-CA15-B8F5-60DF-BC57428B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22" y="1690688"/>
            <a:ext cx="5164498" cy="388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9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</TotalTime>
  <Words>659</Words>
  <Application>Microsoft Macintosh PowerPoint</Application>
  <PresentationFormat>Widescreen</PresentationFormat>
  <Paragraphs>93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Futura Medium</vt:lpstr>
      <vt:lpstr>Helvetica</vt:lpstr>
      <vt:lpstr>Menlo</vt:lpstr>
      <vt:lpstr>Palatino</vt:lpstr>
      <vt:lpstr>Wingdings</vt:lpstr>
      <vt:lpstr>Office Theme</vt:lpstr>
      <vt:lpstr>Modelling respiratory diseases in Southern California</vt:lpstr>
      <vt:lpstr>Center for Outbreak Analytics—Insight 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8</cp:revision>
  <dcterms:created xsi:type="dcterms:W3CDTF">2024-11-20T21:22:28Z</dcterms:created>
  <dcterms:modified xsi:type="dcterms:W3CDTF">2024-12-13T20:25:28Z</dcterms:modified>
</cp:coreProperties>
</file>