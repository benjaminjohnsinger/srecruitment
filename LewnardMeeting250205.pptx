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4" r:id="rId4"/>
    <p:sldId id="275" r:id="rId5"/>
    <p:sldId id="258" r:id="rId6"/>
    <p:sldId id="273" r:id="rId7"/>
    <p:sldId id="264" r:id="rId8"/>
    <p:sldId id="271" r:id="rId9"/>
    <p:sldId id="259" r:id="rId10"/>
    <p:sldId id="277" r:id="rId11"/>
    <p:sldId id="278" r:id="rId12"/>
    <p:sldId id="279" r:id="rId13"/>
    <p:sldId id="280" r:id="rId14"/>
    <p:sldId id="261" r:id="rId15"/>
    <p:sldId id="262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092"/>
  </p:normalViewPr>
  <p:slideViewPr>
    <p:cSldViewPr snapToGrid="0">
      <p:cViewPr varScale="1">
        <p:scale>
          <a:sx n="101" d="100"/>
          <a:sy n="101" d="100"/>
        </p:scale>
        <p:origin x="808" y="200"/>
      </p:cViewPr>
      <p:guideLst/>
    </p:cSldViewPr>
  </p:slideViewPr>
  <p:outlineViewPr>
    <p:cViewPr>
      <p:scale>
        <a:sx n="45" d="100"/>
        <a:sy n="4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806D-90DA-804A-B4CC-68013C659313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A71C7-F088-9E44-9A04-CCC202DC9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7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Kaiser data on range of pathogens shows different recoveries after covid restrictions lifted</a:t>
            </a:r>
          </a:p>
          <a:p>
            <a:pPr marL="171450" indent="-171450">
              <a:buFontTx/>
              <a:buChar char="-"/>
            </a:pPr>
            <a:r>
              <a:rPr lang="en-US" dirty="0"/>
              <a:t>Influenza B did come back in the US for 2023 (normal size outbreak), and this year is having a small outbreak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has some relationship too to how the infections spread through age groups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RSV – seasonal forcing vs immune decay – Stefan </a:t>
            </a:r>
            <a:r>
              <a:rPr lang="en-US" dirty="0" err="1"/>
              <a:t>Flasche</a:t>
            </a:r>
            <a:r>
              <a:rPr lang="en-US" dirty="0"/>
              <a:t> LSHTM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Flu B has a lot of US-internal structure, Flu A less so, essentially panmictic </a:t>
            </a:r>
            <a:r>
              <a:rPr lang="en-US" dirty="0" err="1"/>
              <a:t>bc</a:t>
            </a:r>
            <a:r>
              <a:rPr lang="en-US" dirty="0"/>
              <a:t> it comes from the southern hemisphere - </a:t>
            </a:r>
            <a:r>
              <a:rPr lang="en-US" dirty="0" err="1"/>
              <a:t>latin</a:t>
            </a:r>
            <a:r>
              <a:rPr lang="en-US" dirty="0"/>
              <a:t> </a:t>
            </a:r>
            <a:r>
              <a:rPr lang="en-US" dirty="0" err="1"/>
              <a:t>america</a:t>
            </a:r>
            <a:r>
              <a:rPr lang="en-US" dirty="0"/>
              <a:t> seasonality affects flu A a 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35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- Kaiser data is great and includes interesting time series on pathogens outside the normal superstars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hypothesis is that this differences in rebound and age structure can be best explained by differences in dynamics of susceptible recruitment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need a model that can account for different ways of recruiting </a:t>
            </a:r>
            <a:r>
              <a:rPr lang="en-US" dirty="0" err="1"/>
              <a:t>susceptibles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Birth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Waning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Immune escape</a:t>
            </a:r>
          </a:p>
          <a:p>
            <a:endParaRPr lang="en-US" dirty="0"/>
          </a:p>
          <a:p>
            <a:r>
              <a:rPr lang="en-US" dirty="0"/>
              <a:t>Older children might get severe infection because of less exposure to other pathogens?</a:t>
            </a:r>
          </a:p>
          <a:p>
            <a:r>
              <a:rPr lang="en-US" dirty="0"/>
              <a:t>vs immunity maturation which pushes the other way</a:t>
            </a:r>
          </a:p>
          <a:p>
            <a:r>
              <a:rPr lang="en-US" dirty="0"/>
              <a:t>Immunity works differently &lt;2yo</a:t>
            </a:r>
          </a:p>
          <a:p>
            <a:endParaRPr lang="en-US" dirty="0"/>
          </a:p>
          <a:p>
            <a:r>
              <a:rPr lang="en-US" dirty="0"/>
              <a:t>Interesting plot: For each wave separately, what's the age distribution?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98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figures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2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model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now, hoping that waning and immune escape can be treated as equivalent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Next step is to fit to data, for which we have to understand the impact of covid restrictions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Contact rates will have a big effect on how we estimate other parameters, so important to get as realistic as possible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Different approaches – based on mobility, or based on key dates</a:t>
            </a:r>
          </a:p>
          <a:p>
            <a:pPr marL="171450" indent="-171450">
              <a:buFontTx/>
              <a:buChar char="-"/>
            </a:pPr>
            <a:r>
              <a:rPr lang="en-US" dirty="0"/>
              <a:t>Determining change in contact rates is challenge, especially in relaxed period—COMIX data from UK, which provides a starting point but not the whole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48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Key dates model more successful than mobility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96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This model can produce time series similar to what we observe in the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there are important elements that I can’t capture yet, as demonstrated by the miserable maximum likelihood fit</a:t>
            </a:r>
          </a:p>
          <a:p>
            <a:pPr marL="171450" indent="-171450">
              <a:buFontTx/>
              <a:buChar char="-"/>
            </a:pPr>
            <a:r>
              <a:rPr lang="en-US" dirty="0"/>
              <a:t>While I’m working on developing a good fit, I’ve also done some theoretical work showing what kind of thing we can expect to learn from these fits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Cumulative infections?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81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858C0-6061-37BF-6200-1C6E8B52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06EC7-ACCC-3CC5-EEA0-CCEC21D9B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07077-308D-0833-D0C7-6AB6F8CC1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This model can produce time series similar to what we observe in the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there are important elements that I can’t capture yet, as demonstrated by the miserable maximum likelihood fit</a:t>
            </a:r>
          </a:p>
          <a:p>
            <a:pPr marL="171450" indent="-171450">
              <a:buFontTx/>
              <a:buChar char="-"/>
            </a:pPr>
            <a:r>
              <a:rPr lang="en-US" dirty="0"/>
              <a:t>While I’m working on developing a good fit, I’ve also done some theoretical work showing what kind of thing we can expect to learn from these fits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Cumulative infections?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35A05-B4B1-B87B-2AC5-25D895C2B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98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51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Comparing lots of hypothetical diseases with different transmissibility, waning, and acquired immunity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Behaviour of time to rebound overall is fairly intuitive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we can cluster based on before-lockdown behaviour – what we might know about a pathogen before a disruptive event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we do this, immunity has opposite effect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Zoom in on a few clusters to make this clearer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19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Matching for pre-lockdown behaviour, increased immunity means smaller time to rebound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helps us understand why, when we compare major respiratory diseases, infections of children come back faster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Next step is to make this all work in a highly realistic scenario, and to get a good fit to data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6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6681-74AA-2DE9-DB3B-4208935E3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FF2EA-20CB-F6ED-17E1-CA2EF4FB2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7300-BE9E-BE57-4DA7-308A9E6F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2848-0518-53D9-DD25-F924675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B548-F577-CCD4-8DEC-23C870FF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7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55AF-9A0F-7706-0F9B-5AB0519C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4040-02CF-885D-752B-EBF0E90E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1DD1-DEA0-0C2E-7629-AE389B84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CFC9E-0E98-E8DD-49F0-859F6DC6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429B-E27D-ED19-6AED-101BF4D6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1A27-6A6B-E4A3-561F-E7E5B417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FD80B-9206-41AC-3082-10B38A6E2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0339F-B6D0-7D9F-F290-E455BE59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CD35-B4B2-3270-3A6C-8B1757AE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49B1-0283-060F-F51D-B1DEFE11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5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E7E-92F1-BB85-BCB2-0CEDEA54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8572-825D-A5C5-8BA5-05FD471C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14565-724A-6D56-CA0D-78603ED97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06F6B-A49D-211A-7AE7-4F1770A4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72419-14D0-C873-7D0C-884EE60B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0AC5F-4221-FDF5-7941-DC6A4898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3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3CD9-CF7B-D9AE-6684-B03BB6DB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979BF-C129-9E0E-8500-3CB5CDE5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B4F95-676F-13A1-EDDC-726634A45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A02B8-D6DE-2133-AC14-5792D76D0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6C944-62F5-7007-553C-D8F6902F3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CF6F9-8F30-4140-2E1F-8D45EBD7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32489-5CBB-7050-0A6B-B125E9F5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54937-D785-84EB-293D-E746A1C3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6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70B6-C32C-7902-4284-0A6E3E9B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05F0B-4FE6-4E84-972D-97865CF0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9606D-1BA2-8335-7DB7-3088BEA6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ADD6-7097-7F92-4383-AA159096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9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0A9F-1C60-C2E9-D337-5D304B92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735F4-746C-32D9-B7B2-ED09075C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689F3-D1FC-C0B4-9FBA-6BA79D82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3457-9852-7D41-96D5-FC691E5E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9EA9-3895-6219-178F-67D6C8A0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0A237-3E7A-53C5-B491-94B3C296A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AB61-6B8A-4608-CE1D-38624CD3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D541-2D61-05B7-AB91-E0BDA7C1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29DA7-BFAB-C493-1969-245E757A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2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28D1-507D-F829-0CD0-554CE9A2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6DBAF-5B3B-748C-981D-0B9755584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9495A-86CF-80E5-3F56-B289682E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FE8DD-0286-15A7-1B86-E56A8A9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09941-1081-3607-EFDB-1AD2D933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F980F-3B49-5A4D-4F1A-87CBD23C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3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2F9-F918-C963-5A0F-5D090BBD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2B060-5C6F-E794-595B-A25AEA87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A121A-5620-175C-CEF0-CE0CC0CF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D9F3-99D9-6E19-F17D-48D522D1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E5ACD-FAF5-600D-8FFD-3776F4C9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9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10E8F-D961-6745-D454-8418C9808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ADEB7-D879-587B-475A-293573B71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8C3FD-D44B-68BE-AA8F-CB0302B3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3072-BA9F-04D8-3546-326D6C57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01C40-C250-386E-7F5F-11E7EBD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0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A6AFC-6654-6546-98BD-DF1CDC51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9CD93-BE1D-6B69-1DE4-39041B65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51B7-8978-6836-C2E9-79826A5FC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B4753-5BCD-144E-B2E9-746E112FC7A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C04B-DE58-57B6-FC2C-E3F6A95CE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E213-1763-07DA-7C2C-976206CE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98D5-B82E-6808-44A2-99FAEF40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41" y="1233187"/>
            <a:ext cx="9402501" cy="2513313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Using lockdowns as a natural experiment to fix transmission parameters in mechanistic models: WIP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B3D6-BF83-DE83-3F2D-A089ACCC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6841" y="4515950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Ben Singer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Postdoc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Joe </a:t>
            </a:r>
            <a:r>
              <a:rPr lang="en-US" dirty="0" err="1">
                <a:latin typeface="Palatino" pitchFamily="2" charset="77"/>
                <a:ea typeface="Palatino" pitchFamily="2" charset="77"/>
              </a:rPr>
              <a:t>Lewnard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group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University of California, Berkeley</a:t>
            </a:r>
          </a:p>
        </p:txBody>
      </p:sp>
    </p:spTree>
    <p:extLst>
      <p:ext uri="{BB962C8B-B14F-4D97-AF65-F5344CB8AC3E}">
        <p14:creationId xmlns:p14="http://schemas.microsoft.com/office/powerpoint/2010/main" val="283927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colors&#10;&#10;Description automatically generated">
            <a:extLst>
              <a:ext uri="{FF2B5EF4-FFF2-40B4-BE49-F238E27FC236}">
                <a16:creationId xmlns:a16="http://schemas.microsoft.com/office/drawing/2014/main" id="{20F66475-5FDF-3617-83D7-A7B5F5DD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8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types of virus&#10;&#10;Description automatically generated">
            <a:extLst>
              <a:ext uri="{FF2B5EF4-FFF2-40B4-BE49-F238E27FC236}">
                <a16:creationId xmlns:a16="http://schemas.microsoft.com/office/drawing/2014/main" id="{70D7FB6F-C1B0-08B2-670B-35F62E28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7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of different colored bars&#10;&#10;AI-generated content may be incorrect.">
            <a:extLst>
              <a:ext uri="{FF2B5EF4-FFF2-40B4-BE49-F238E27FC236}">
                <a16:creationId xmlns:a16="http://schemas.microsoft.com/office/drawing/2014/main" id="{8C6FF035-7ACC-445B-E3AB-54679C824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57200"/>
            <a:ext cx="5943600" cy="5943600"/>
          </a:xfr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EEC04CA-0A78-3FA7-1EFD-1680C8A0A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2" y="457200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9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C996B1-1DEB-985E-0962-90657995754C}"/>
              </a:ext>
            </a:extLst>
          </p:cNvPr>
          <p:cNvSpPr/>
          <p:nvPr/>
        </p:nvSpPr>
        <p:spPr>
          <a:xfrm>
            <a:off x="1433791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A29A4-6686-8F8F-E4E4-2AB30D00DAB2}"/>
              </a:ext>
            </a:extLst>
          </p:cNvPr>
          <p:cNvSpPr/>
          <p:nvPr/>
        </p:nvSpPr>
        <p:spPr>
          <a:xfrm>
            <a:off x="4468287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D142-36FB-0FD4-FAD4-B53BEC76E6FE}"/>
              </a:ext>
            </a:extLst>
          </p:cNvPr>
          <p:cNvSpPr/>
          <p:nvPr/>
        </p:nvSpPr>
        <p:spPr>
          <a:xfrm>
            <a:off x="1433790" y="281976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4F6A6-28C4-04CC-8C6F-FCF725D019FE}"/>
              </a:ext>
            </a:extLst>
          </p:cNvPr>
          <p:cNvSpPr/>
          <p:nvPr/>
        </p:nvSpPr>
        <p:spPr>
          <a:xfrm>
            <a:off x="4468286" y="2819766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1E28B-F4AE-9B08-52D1-5ED9473A2094}"/>
              </a:ext>
            </a:extLst>
          </p:cNvPr>
          <p:cNvSpPr/>
          <p:nvPr/>
        </p:nvSpPr>
        <p:spPr>
          <a:xfrm>
            <a:off x="1433791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DA993-E313-CDC0-AB3C-6AA6500E4331}"/>
              </a:ext>
            </a:extLst>
          </p:cNvPr>
          <p:cNvSpPr/>
          <p:nvPr/>
        </p:nvSpPr>
        <p:spPr>
          <a:xfrm>
            <a:off x="4468287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8BF3F-4AEC-EF6C-3B30-25C80204371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0762" y="1354973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CE079-70E6-1411-33D7-0DDFDADB5F09}"/>
              </a:ext>
            </a:extLst>
          </p:cNvPr>
          <p:cNvCxnSpPr>
            <a:cxnSpLocks/>
          </p:cNvCxnSpPr>
          <p:nvPr/>
        </p:nvCxnSpPr>
        <p:spPr>
          <a:xfrm flipH="1">
            <a:off x="2420761" y="1848458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BDA2E-EDDC-DAA3-EE89-26C795191BDC}"/>
              </a:ext>
            </a:extLst>
          </p:cNvPr>
          <p:cNvCxnSpPr>
            <a:cxnSpLocks/>
          </p:cNvCxnSpPr>
          <p:nvPr/>
        </p:nvCxnSpPr>
        <p:spPr>
          <a:xfrm flipH="1">
            <a:off x="2420761" y="3806737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DDB36-4F52-28AB-E7B6-EF79243564D9}"/>
              </a:ext>
            </a:extLst>
          </p:cNvPr>
          <p:cNvCxnSpPr/>
          <p:nvPr/>
        </p:nvCxnSpPr>
        <p:spPr>
          <a:xfrm>
            <a:off x="2420760" y="5063190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6B4EB8-5B19-F57D-4632-DCABC064BC7D}"/>
              </a:ext>
            </a:extLst>
          </p:cNvPr>
          <p:cNvCxnSpPr/>
          <p:nvPr/>
        </p:nvCxnSpPr>
        <p:spPr>
          <a:xfrm>
            <a:off x="2420761" y="3313251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23FA5-0C9A-175D-1472-6D03CD6DA20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1927276" y="3806738"/>
            <a:ext cx="1" cy="9713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ED0391-B078-67B0-2D9E-9F945CFC9E36}"/>
              </a:ext>
            </a:extLst>
          </p:cNvPr>
          <p:cNvSpPr txBox="1"/>
          <p:nvPr/>
        </p:nvSpPr>
        <p:spPr>
          <a:xfrm>
            <a:off x="2873235" y="985637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Infection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63355-ABB5-9455-DB99-C1464423E603}"/>
              </a:ext>
            </a:extLst>
          </p:cNvPr>
          <p:cNvSpPr txBox="1"/>
          <p:nvPr/>
        </p:nvSpPr>
        <p:spPr>
          <a:xfrm rot="20103768">
            <a:off x="2825274" y="2012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Recovery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70D2-D497-D79D-4D92-A12246D33A4E}"/>
              </a:ext>
            </a:extLst>
          </p:cNvPr>
          <p:cNvSpPr txBox="1"/>
          <p:nvPr/>
        </p:nvSpPr>
        <p:spPr>
          <a:xfrm>
            <a:off x="758769" y="396922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Waning</a:t>
            </a:r>
          </a:p>
          <a:p>
            <a:r>
              <a:rPr lang="en-US" dirty="0">
                <a:latin typeface="Helvetica" pitchFamily="2" charset="0"/>
              </a:rPr>
              <a:t>immunity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96AA8F-7518-C3DF-505F-56BD3A669E84}"/>
              </a:ext>
            </a:extLst>
          </p:cNvPr>
          <p:cNvCxnSpPr>
            <a:cxnSpLocks/>
          </p:cNvCxnSpPr>
          <p:nvPr/>
        </p:nvCxnSpPr>
        <p:spPr>
          <a:xfrm flipH="1">
            <a:off x="2420760" y="5491454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19C472-93B5-04C0-53D8-BDAE0F3AAC04}"/>
              </a:ext>
            </a:extLst>
          </p:cNvPr>
          <p:cNvSpPr txBox="1"/>
          <p:nvPr/>
        </p:nvSpPr>
        <p:spPr>
          <a:xfrm>
            <a:off x="5915158" y="1097260"/>
            <a:ext cx="54979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Simple but flexible model which captures multiple infections with varying immunity over an individual’s lifetime, with waning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1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2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which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3</a:t>
            </a:r>
            <a:endParaRPr lang="en-US" dirty="0">
              <a:latin typeface="Helvetica" pitchFamily="2" charset="0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Each compartment split into 7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Infection spreads between age groups based on contact matrix from Prem et al.</a:t>
            </a:r>
          </a:p>
        </p:txBody>
      </p:sp>
    </p:spTree>
    <p:extLst>
      <p:ext uri="{BB962C8B-B14F-4D97-AF65-F5344CB8AC3E}">
        <p14:creationId xmlns:p14="http://schemas.microsoft.com/office/powerpoint/2010/main" val="11561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with blue lines&#10;&#10;Description automatically generated">
            <a:extLst>
              <a:ext uri="{FF2B5EF4-FFF2-40B4-BE49-F238E27FC236}">
                <a16:creationId xmlns:a16="http://schemas.microsoft.com/office/drawing/2014/main" id="{1A45A750-1BFC-B979-C8D4-A49AFBB4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6172200" cy="6172200"/>
          </a:xfrm>
          <a:prstGeom prst="rect">
            <a:avLst/>
          </a:prstGeom>
        </p:spPr>
      </p:pic>
      <p:pic>
        <p:nvPicPr>
          <p:cNvPr id="5" name="Picture 4" descr="A graph of birth rate&#10;&#10;Description automatically generated">
            <a:extLst>
              <a:ext uri="{FF2B5EF4-FFF2-40B4-BE49-F238E27FC236}">
                <a16:creationId xmlns:a16="http://schemas.microsoft.com/office/drawing/2014/main" id="{F10292B9-C92A-1420-84DE-E42A03F2E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342899"/>
            <a:ext cx="6014357" cy="601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7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0DD8C-57EA-69CA-96B3-969C79E2BAA6}"/>
              </a:ext>
            </a:extLst>
          </p:cNvPr>
          <p:cNvSpPr txBox="1"/>
          <p:nvPr/>
        </p:nvSpPr>
        <p:spPr>
          <a:xfrm>
            <a:off x="6489700" y="1066800"/>
            <a:ext cx="5092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Key dates: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2020.03.19—California stay-at-home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2021.04.27—CDC relaxes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2021.12.15—CDC reinstates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2022.03.01—California cancels mask mandate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51EF79-F8ED-3018-6C17-42A2E6BA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06725"/>
              </p:ext>
            </p:extLst>
          </p:nvPr>
        </p:nvGraphicFramePr>
        <p:xfrm>
          <a:off x="6489698" y="3613666"/>
          <a:ext cx="5092701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5902">
                  <a:extLst>
                    <a:ext uri="{9D8B030D-6E8A-4147-A177-3AD203B41FA5}">
                      <a16:colId xmlns:a16="http://schemas.microsoft.com/office/drawing/2014/main" val="255956124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011148142"/>
                    </a:ext>
                  </a:extLst>
                </a:gridCol>
                <a:gridCol w="1930399">
                  <a:extLst>
                    <a:ext uri="{9D8B030D-6E8A-4147-A177-3AD203B41FA5}">
                      <a16:colId xmlns:a16="http://schemas.microsoft.com/office/drawing/2014/main" val="1248671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Min. 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Max. contacts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71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0–4y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788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4–17y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2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18–59y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75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60+y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0647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BA5C2B-E91B-962A-2B5F-21F89DFF4886}"/>
              </a:ext>
            </a:extLst>
          </p:cNvPr>
          <p:cNvSpPr txBox="1"/>
          <p:nvPr/>
        </p:nvSpPr>
        <p:spPr>
          <a:xfrm>
            <a:off x="6489698" y="3244334"/>
            <a:ext cx="509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COMIX vs POLYMOD mean daily contacts</a:t>
            </a:r>
          </a:p>
        </p:txBody>
      </p:sp>
      <p:pic>
        <p:nvPicPr>
          <p:cNvPr id="5" name="Picture 4" descr="A graph of a number of people&#10;&#10;Description automatically generated">
            <a:extLst>
              <a:ext uri="{FF2B5EF4-FFF2-40B4-BE49-F238E27FC236}">
                <a16:creationId xmlns:a16="http://schemas.microsoft.com/office/drawing/2014/main" id="{216F5A70-756E-7E33-9344-1DE10851C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565150"/>
            <a:ext cx="5727700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3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C8418098-0D16-4EF5-1A91-FCE80E08E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73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53AE0C-80E2-C8D6-32E2-F173D1B891C4}"/>
              </a:ext>
            </a:extLst>
          </p:cNvPr>
          <p:cNvSpPr txBox="1"/>
          <p:nvPr/>
        </p:nvSpPr>
        <p:spPr>
          <a:xfrm>
            <a:off x="457200" y="673100"/>
            <a:ext cx="2686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Fitting RSV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973B7-5C1A-94BA-A9D6-58BC21376E08}"/>
              </a:ext>
            </a:extLst>
          </p:cNvPr>
          <p:cNvSpPr txBox="1"/>
          <p:nvPr/>
        </p:nvSpPr>
        <p:spPr>
          <a:xfrm>
            <a:off x="457201" y="1689100"/>
            <a:ext cx="5651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Maximum likelihood assuming Poisson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Difficult to match timing of rebound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Key elements to explore are contact changes, immunity, and seasonal forcing</a:t>
            </a:r>
          </a:p>
        </p:txBody>
      </p:sp>
      <p:pic>
        <p:nvPicPr>
          <p:cNvPr id="6" name="Picture 5" descr="A group of graphs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2FB9D6F4-3CEF-12DD-CEC1-E6B69A31A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0"/>
            <a:ext cx="6070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79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9FA93-BA73-AA31-89C2-B93048AD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4FFB8E-B062-42E2-6C14-E83E6C0D3966}"/>
              </a:ext>
            </a:extLst>
          </p:cNvPr>
          <p:cNvSpPr txBox="1"/>
          <p:nvPr/>
        </p:nvSpPr>
        <p:spPr>
          <a:xfrm>
            <a:off x="457200" y="673100"/>
            <a:ext cx="44210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Fitting Influenza A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E6A0EAE-5CC7-2F6D-4104-B309FE16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968" y="1380986"/>
            <a:ext cx="9708063" cy="5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38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802B8C3-F472-E898-F4D5-1B8DCF2A2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1632" y="0"/>
            <a:ext cx="9906000" cy="68580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C64C5-C959-75D5-D2DB-9000658C257A}"/>
              </a:ext>
            </a:extLst>
          </p:cNvPr>
          <p:cNvSpPr txBox="1"/>
          <p:nvPr/>
        </p:nvSpPr>
        <p:spPr>
          <a:xfrm>
            <a:off x="457200" y="673100"/>
            <a:ext cx="2960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Flu vaccines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BD310-2DDD-02CB-C85C-4C2571C43064}"/>
              </a:ext>
            </a:extLst>
          </p:cNvPr>
          <p:cNvSpPr txBox="1"/>
          <p:nvPr/>
        </p:nvSpPr>
        <p:spPr>
          <a:xfrm>
            <a:off x="353568" y="1609344"/>
            <a:ext cx="3547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Vaccine effectiveness data could help capture variation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Vaccine literature puts constraints on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Disease-preventing immunity vs infection-preventing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Adult and child vaccine effectiveness provide additional constraints</a:t>
            </a:r>
          </a:p>
        </p:txBody>
      </p:sp>
    </p:spTree>
    <p:extLst>
      <p:ext uri="{BB962C8B-B14F-4D97-AF65-F5344CB8AC3E}">
        <p14:creationId xmlns:p14="http://schemas.microsoft.com/office/powerpoint/2010/main" val="3751892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graph showing a number of different times&#10;&#10;AI-generated content may be incorrect.">
            <a:extLst>
              <a:ext uri="{FF2B5EF4-FFF2-40B4-BE49-F238E27FC236}">
                <a16:creationId xmlns:a16="http://schemas.microsoft.com/office/drawing/2014/main" id="{99C61690-F6A5-ADA9-5509-7B08782EC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1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272738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positive and disease&#10;&#10;AI-generated content may be incorrect.">
            <a:extLst>
              <a:ext uri="{FF2B5EF4-FFF2-40B4-BE49-F238E27FC236}">
                <a16:creationId xmlns:a16="http://schemas.microsoft.com/office/drawing/2014/main" id="{782BBB00-80E9-34F6-479B-CB8A42DDF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5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lage of different colored graphs&#10;&#10;Description automatically generated">
            <a:extLst>
              <a:ext uri="{FF2B5EF4-FFF2-40B4-BE49-F238E27FC236}">
                <a16:creationId xmlns:a16="http://schemas.microsoft.com/office/drawing/2014/main" id="{5092814D-7356-CFD8-E2FF-2FCAE439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57" y="307181"/>
            <a:ext cx="11154886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0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with different colors&#10;&#10;Description automatically generated">
            <a:extLst>
              <a:ext uri="{FF2B5EF4-FFF2-40B4-BE49-F238E27FC236}">
                <a16:creationId xmlns:a16="http://schemas.microsoft.com/office/drawing/2014/main" id="{2EA1E681-D1B9-F499-D6E5-94B51723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5" y="303609"/>
            <a:ext cx="11167650" cy="62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95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D8C2-CB99-A19B-B6EA-EEB28337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69253-FEBF-5D86-79D6-C5BF627B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NREVSS data for RSV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Finessing the lockdown model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Running better optimizers</a:t>
            </a:r>
          </a:p>
        </p:txBody>
      </p:sp>
    </p:spTree>
    <p:extLst>
      <p:ext uri="{BB962C8B-B14F-4D97-AF65-F5344CB8AC3E}">
        <p14:creationId xmlns:p14="http://schemas.microsoft.com/office/powerpoint/2010/main" val="201800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7367</TotalTime>
  <Words>781</Words>
  <Application>Microsoft Macintosh PowerPoint</Application>
  <PresentationFormat>Widescreen</PresentationFormat>
  <Paragraphs>123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Futura Medium</vt:lpstr>
      <vt:lpstr>Helvetica</vt:lpstr>
      <vt:lpstr>Palatino</vt:lpstr>
      <vt:lpstr>Office Theme</vt:lpstr>
      <vt:lpstr>Using lockdowns as a natural experiment to fix transmission parameters in mechanistic models: WIP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15</cp:revision>
  <dcterms:created xsi:type="dcterms:W3CDTF">2024-11-20T21:22:28Z</dcterms:created>
  <dcterms:modified xsi:type="dcterms:W3CDTF">2025-04-02T18:08:44Z</dcterms:modified>
</cp:coreProperties>
</file>