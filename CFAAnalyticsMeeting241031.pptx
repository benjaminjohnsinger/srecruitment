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>
      <p:cViewPr>
        <p:scale>
          <a:sx n="90" d="100"/>
          <a:sy n="90" d="100"/>
        </p:scale>
        <p:origin x="133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CFB8-5B07-EC59-61A9-1EE6FE749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36257-0BBD-19B7-7B5F-5485B3D5E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8B41E-4E36-DCA7-DDAF-25D517DB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7B150-F52D-3B2C-B500-6025E690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0B89B-EE08-EB0D-DE39-98B55B7F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70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5ABB-FB9D-0F49-1338-26BB3495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9BE67-201E-43BA-F62E-19434762D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12AA7-DD9C-0148-9F4C-DEABFA55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1CC01-56A2-A3D4-9BE6-D51EA6FED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C757-968E-6714-A46D-6AA29C0A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1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692A1-F1C4-B73F-7682-4E749F707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BEA6-23A6-7017-C686-EFCF0E3CC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8917F-390B-8E52-0D62-9423FF6F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3DE0B-5383-6DA3-AF70-A856D3221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5E609-D4B1-869C-CFA8-971A61C89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35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A491-E499-8079-86DF-A5706E6E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930D-D711-99F6-B1D3-D06422CBA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134F3-9C79-B96D-7F7D-1C9631181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502B7-A436-7E31-FC41-C94BE1D61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930F8-639C-63A5-206F-1E5CB1591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879C4-6287-8BE5-0AC6-83502134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8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67B7-52BE-48A0-4AA4-C143162D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AF9A3-68FE-8FEB-971B-5DEA2A222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6F53E-6E8D-74AF-1400-BB9AF6D61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259F4-5A9D-9620-5156-0B6A0D9C3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4ED075-C9F5-75CE-7EC6-CDE3C3A38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80439-B66B-1B25-0B09-8E792C22E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5DB43-0473-93A1-FD7F-687325C1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566F3F-DE71-07F8-B1B9-78B44939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9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C986-D47D-B01D-947D-64A4520CC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08208-9144-7D77-A320-2ADECD36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F466C-24F3-483B-8FAE-74DEBCB6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3D41C-6445-34A7-DA49-4A8E20A4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7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5D38D-F280-66CB-0371-3C12BE26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F4DD8D-96A8-117F-32F4-7C244E820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D0502-44F8-D612-F2EF-9B46A84D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2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1180-BBB1-0784-B163-0E5B8424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232A3-F1D2-CCCE-7B2A-E29AEB74D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0EDAA-0C41-65B4-9167-D74238403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E0621-105A-02BB-6308-44B11932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B2C9D-0D8D-CAF8-92C3-1C543683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9574E-C1D4-F4B3-0B3F-01153CF0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3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6D1EC-6FD2-23E4-8C3A-C2469BEDF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FFE56-3157-7DED-4E87-C2E3137744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F9094-10CC-DAF3-D91F-30B1E9B9F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EDF3E-4D88-AB9C-31FB-A11B76E4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ADC42-C93A-7F27-F475-CAAA357A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36C76-90AF-7024-A834-5F9F75BDA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085C-5E35-2593-9EA4-D27AB640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D14F3-9F50-1EF9-285A-269EEB02B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542EC-244A-264C-B118-0986C5716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53528-C68C-C33E-3BD5-413ACE43B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1161A-ED8D-F8CA-A1E4-F2B32F2E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3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25FBB7-0753-841D-82F1-C8B0540AF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416DB-36F9-0E5C-2FDF-8957C963B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55E18-66CE-2868-EDDC-1603F07D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639A1-70D5-5205-0587-63C4CE7E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29566-14DE-87DA-273C-21B8711C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8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3F1D70-4024-6052-7FD4-680C20D5A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FAC3D-9007-993D-72EF-203062B25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0DF1B-343A-1888-8244-E72033BA4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728CF-8322-BC46-9464-B9DA67C66AAE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7F462-965B-486B-4074-19C0C1EF4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0CF8F-73BA-3E35-D87B-663972918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F64CC-08CA-164C-834A-5498BBDF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5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C996B1-1DEB-985E-0962-90657995754C}"/>
              </a:ext>
            </a:extLst>
          </p:cNvPr>
          <p:cNvSpPr/>
          <p:nvPr/>
        </p:nvSpPr>
        <p:spPr>
          <a:xfrm>
            <a:off x="1433791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A29A4-6686-8F8F-E4E4-2AB30D00DAB2}"/>
              </a:ext>
            </a:extLst>
          </p:cNvPr>
          <p:cNvSpPr/>
          <p:nvPr/>
        </p:nvSpPr>
        <p:spPr>
          <a:xfrm>
            <a:off x="4468287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D142-36FB-0FD4-FAD4-B53BEC76E6FE}"/>
              </a:ext>
            </a:extLst>
          </p:cNvPr>
          <p:cNvSpPr/>
          <p:nvPr/>
        </p:nvSpPr>
        <p:spPr>
          <a:xfrm>
            <a:off x="1433790" y="281976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4F6A6-28C4-04CC-8C6F-FCF725D019FE}"/>
              </a:ext>
            </a:extLst>
          </p:cNvPr>
          <p:cNvSpPr/>
          <p:nvPr/>
        </p:nvSpPr>
        <p:spPr>
          <a:xfrm>
            <a:off x="4468286" y="2819766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1E28B-F4AE-9B08-52D1-5ED9473A2094}"/>
              </a:ext>
            </a:extLst>
          </p:cNvPr>
          <p:cNvSpPr/>
          <p:nvPr/>
        </p:nvSpPr>
        <p:spPr>
          <a:xfrm>
            <a:off x="1433791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DA993-E313-CDC0-AB3C-6AA6500E4331}"/>
              </a:ext>
            </a:extLst>
          </p:cNvPr>
          <p:cNvSpPr/>
          <p:nvPr/>
        </p:nvSpPr>
        <p:spPr>
          <a:xfrm>
            <a:off x="4468287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8BF3F-4AEC-EF6C-3B30-25C80204371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20762" y="1354973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DCE079-70E6-1411-33D7-0DDFDADB5F09}"/>
              </a:ext>
            </a:extLst>
          </p:cNvPr>
          <p:cNvCxnSpPr>
            <a:cxnSpLocks/>
          </p:cNvCxnSpPr>
          <p:nvPr/>
        </p:nvCxnSpPr>
        <p:spPr>
          <a:xfrm flipH="1">
            <a:off x="2420761" y="1848458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BBDA2E-EDDC-DAA3-EE89-26C795191BDC}"/>
              </a:ext>
            </a:extLst>
          </p:cNvPr>
          <p:cNvCxnSpPr>
            <a:cxnSpLocks/>
          </p:cNvCxnSpPr>
          <p:nvPr/>
        </p:nvCxnSpPr>
        <p:spPr>
          <a:xfrm flipH="1">
            <a:off x="2420761" y="3806737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EDDB36-4F52-28AB-E7B6-EF79243564D9}"/>
              </a:ext>
            </a:extLst>
          </p:cNvPr>
          <p:cNvCxnSpPr/>
          <p:nvPr/>
        </p:nvCxnSpPr>
        <p:spPr>
          <a:xfrm>
            <a:off x="2420760" y="5063190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6B4EB8-5B19-F57D-4632-DCABC064BC7D}"/>
              </a:ext>
            </a:extLst>
          </p:cNvPr>
          <p:cNvCxnSpPr/>
          <p:nvPr/>
        </p:nvCxnSpPr>
        <p:spPr>
          <a:xfrm>
            <a:off x="2420761" y="3313251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723FA5-0C9A-175D-1472-6D03CD6DA20D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1927276" y="3806738"/>
            <a:ext cx="1" cy="9713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0ED0391-B078-67B0-2D9E-9F945CFC9E36}"/>
              </a:ext>
            </a:extLst>
          </p:cNvPr>
          <p:cNvSpPr txBox="1"/>
          <p:nvPr/>
        </p:nvSpPr>
        <p:spPr>
          <a:xfrm>
            <a:off x="2873235" y="985637"/>
            <a:ext cx="106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Infection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63355-ABB5-9455-DB99-C1464423E603}"/>
              </a:ext>
            </a:extLst>
          </p:cNvPr>
          <p:cNvSpPr txBox="1"/>
          <p:nvPr/>
        </p:nvSpPr>
        <p:spPr>
          <a:xfrm rot="20103768">
            <a:off x="2825274" y="2012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Recovery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F70D2-D497-D79D-4D92-A12246D33A4E}"/>
              </a:ext>
            </a:extLst>
          </p:cNvPr>
          <p:cNvSpPr txBox="1"/>
          <p:nvPr/>
        </p:nvSpPr>
        <p:spPr>
          <a:xfrm>
            <a:off x="758769" y="396922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Waning</a:t>
            </a:r>
          </a:p>
          <a:p>
            <a:r>
              <a:rPr lang="en-US" dirty="0">
                <a:latin typeface="Helvetica" pitchFamily="2" charset="0"/>
              </a:rPr>
              <a:t>immunity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96AA8F-7518-C3DF-505F-56BD3A669E84}"/>
              </a:ext>
            </a:extLst>
          </p:cNvPr>
          <p:cNvCxnSpPr>
            <a:cxnSpLocks/>
          </p:cNvCxnSpPr>
          <p:nvPr/>
        </p:nvCxnSpPr>
        <p:spPr>
          <a:xfrm flipH="1">
            <a:off x="2420760" y="5491454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19C472-93B5-04C0-53D8-BDAE0F3AAC04}"/>
              </a:ext>
            </a:extLst>
          </p:cNvPr>
          <p:cNvSpPr txBox="1"/>
          <p:nvPr/>
        </p:nvSpPr>
        <p:spPr>
          <a:xfrm>
            <a:off x="5915158" y="1097260"/>
            <a:ext cx="54979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Simple but flexible model which captures multiple infections with varying immunity over an individual’s lifetime, with waning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1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2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, which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3</a:t>
            </a:r>
            <a:endParaRPr lang="en-US" dirty="0">
              <a:latin typeface="Helvetica" pitchFamily="2" charset="0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Each compartment split into 7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Infection spreads between age groups based on contact matrix from Prem et al.</a:t>
            </a:r>
          </a:p>
        </p:txBody>
      </p:sp>
    </p:spTree>
    <p:extLst>
      <p:ext uri="{BB962C8B-B14F-4D97-AF65-F5344CB8AC3E}">
        <p14:creationId xmlns:p14="http://schemas.microsoft.com/office/powerpoint/2010/main" val="115617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lockdown&#10;&#10;Description automatically generated">
            <a:extLst>
              <a:ext uri="{FF2B5EF4-FFF2-40B4-BE49-F238E27FC236}">
                <a16:creationId xmlns:a16="http://schemas.microsoft.com/office/drawing/2014/main" id="{9DC39184-F3B5-B954-5700-ABF8EF91F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56" y="307181"/>
            <a:ext cx="11154887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7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lage of different colored graphs&#10;&#10;Description automatically generated">
            <a:extLst>
              <a:ext uri="{FF2B5EF4-FFF2-40B4-BE49-F238E27FC236}">
                <a16:creationId xmlns:a16="http://schemas.microsoft.com/office/drawing/2014/main" id="{5092814D-7356-CFD8-E2FF-2FCAE4392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57" y="307181"/>
            <a:ext cx="11154886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20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with different colors&#10;&#10;Description automatically generated">
            <a:extLst>
              <a:ext uri="{FF2B5EF4-FFF2-40B4-BE49-F238E27FC236}">
                <a16:creationId xmlns:a16="http://schemas.microsoft.com/office/drawing/2014/main" id="{2EA1E681-D1B9-F499-D6E5-94B517231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75" y="303609"/>
            <a:ext cx="11167650" cy="62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95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types of graphs&#10;&#10;Description automatically generated with medium confidence">
            <a:extLst>
              <a:ext uri="{FF2B5EF4-FFF2-40B4-BE49-F238E27FC236}">
                <a16:creationId xmlns:a16="http://schemas.microsoft.com/office/drawing/2014/main" id="{9AAF12C6-7B67-10E6-2959-528DF55D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56" y="307181"/>
            <a:ext cx="11154887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27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with blue lines&#10;&#10;Description automatically generated">
            <a:extLst>
              <a:ext uri="{FF2B5EF4-FFF2-40B4-BE49-F238E27FC236}">
                <a16:creationId xmlns:a16="http://schemas.microsoft.com/office/drawing/2014/main" id="{1A45A750-1BFC-B979-C8D4-A49AFBB4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85800"/>
            <a:ext cx="5486400" cy="5486400"/>
          </a:xfrm>
          <a:prstGeom prst="rect">
            <a:avLst/>
          </a:prstGeom>
        </p:spPr>
      </p:pic>
      <p:pic>
        <p:nvPicPr>
          <p:cNvPr id="19" name="Picture 18" descr="A graph of a number of individuals&#10;&#10;Description automatically generated with medium confidence">
            <a:extLst>
              <a:ext uri="{FF2B5EF4-FFF2-40B4-BE49-F238E27FC236}">
                <a16:creationId xmlns:a16="http://schemas.microsoft.com/office/drawing/2014/main" id="{CCB55AAC-6E72-693B-DA28-09B59AF8F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3" y="685800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33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65</Words>
  <Application>Microsoft Macintosh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Helvetica</vt:lpstr>
      <vt:lpstr>Palatino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2</cp:revision>
  <dcterms:created xsi:type="dcterms:W3CDTF">2024-10-31T18:02:17Z</dcterms:created>
  <dcterms:modified xsi:type="dcterms:W3CDTF">2024-10-31T20:14:14Z</dcterms:modified>
</cp:coreProperties>
</file>