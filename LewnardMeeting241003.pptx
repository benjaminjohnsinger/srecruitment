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63262"/>
  </p:normalViewPr>
  <p:slideViewPr>
    <p:cSldViewPr snapToGrid="0">
      <p:cViewPr varScale="1">
        <p:scale>
          <a:sx n="70" d="100"/>
          <a:sy n="70" d="100"/>
        </p:scale>
        <p:origin x="8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18:36:30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18:36:35.3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149 131 24575,'-6'9'0,"3"0"0,-1 3 0,3-2 0,2-3 0,2-3 0,2-4 0,2-2 0,1-4 0,3-7 0,2-5 0,0-6 0,-3-3 0,-5 0 0,-4 2 0,-3 6 0,-1 8 0,-2 4 0,0 5 0,-2 2 0,-1 1 0,-2 2 0,-2 3 0,0 5 0,1 1 0,4-1 0,6-1 0,3-1 0,4-1 0,3 0 0,2-2 0,-2-1 0,-1-2 0,-3-3 0,-2-5 0,-1-6 0,-3-3 0,-2-4 0,-3 1 0,-4 3 0,-3 4 0,-2 6 0,-3 6 0,-6 5 0,-3 4 0,2 2 0,4 0 0,8-1 0,6-3 0,7 1 0,12 1 0,16 6 0,16 0 0,8-1 0,0-6 0,-8-8 0,-13-4 0,-8-7 0,-6-5 0,-6-3 0,-1-4 0,-7 1 0,-7 2 0,-4 3 0,-4 4 0,-4 5 0,-5 4 0,-3 3 0,-5 4 0,3 3 0,5 3 0,5-1 0,7 2 0,3-1 0,3 1 0,3 0 0,3-3 0,4-1 0,6-3 0,5-2 0,6-2 0,0 0 0,-4-2 0,-6-2 0,-6-3 0,-5-5 0,-9-9 0,-7 0 0,-6 3 0,-7 7 0,3 12 0,-1 4 0,2 5 0,6 4 0,5 1 0,5 1 0,6 0 0,5-1 0,5-1 0,4-3 0,2-5 0,2-4 0,1-5 0,2-5 0,-2-5 0,-5-3 0,-6-1 0,-7 1 0,-6 4 0,1 2 0,-2 5 0,-3 5 0,-7 4 0,-6 5 0,-1 3 0,7-1 0,9-5 0,8-5 0,8-8 0,5-6 0,-1-2 0,-6 5 0,-7 10 0,-5 9 0,1 2 0,2-4 0,8-7 0,1-8 0,1-4 0,-2 3 0,-6 7 0,-2 10 0,-2 5 0,-1-1 0,3-7 0,2-11 0,0-7 0,-3-3 0,-2 2 0,-4 7 0,-4 9 0,1 6 0,1 4 0,7-3 0,5-4 0,3-4 0,0-1 0,0-1 0,10 0 0,11 2 0,-8-2 0,3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18:36:52.78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138 118 24575,'-8'0'0,"-1"0"0,0 0 0,-1 0 0,1 1 0,1 2 0,-1 3 0,1 3 0,1 1 0,3 0 0,3-2 0,2-1 0,4-4 0,7-2 0,5-2 0,6-1 0,-3 1 0,-8-1 0,-4-3 0,-5-4 0,-1-5 0,-1-5 0,-2 0 0,0 3 0,-2 6 0,-2 5 0,-5 4 0,-4 7 0,-3 4 0,3 6 0,4 2 0,6 1 0,3-1 0,3-4 0,1-3 0,2-5 0,4-2 0,3-3 0,3-1 0,1-3 0,-4-4 0,-3-7 0,-4-11 0,-11-7 0,-8 2 0,-5 8 0,-4 11 0,-1 11 0,-3 6 0,1 5 0,6 7 0,11 7 0,10 6 0,11 6 0,17 3 0,17-3 0,5-10 0,-3-11 0,-11-17 0,-12-19 0,-9-13 0,-11-11 0,-13-5 0,-12-1 0,-5 6 0,1 12 0,4 13 0,1 13 0,-6 9 0,-9 11 0,0 5 0,6 6 0,12 1 0,12-2 0,7-2 0,8-5 0,15-3 0,9-7 0,6-6 0,-3-10 0,-12-8 0,-11-4 0,-8-1 0,-8 2 0,-5 3 0,-4 4 0,-2 5 0,-4 6 0,-5 6 0,-2 7 0,2 4 0,8 3 0,9-1 0,10-3 0,6-2 0,6-6 0,8-6 0,1-6 0,-4-4 0,-7-1 0,-10 2 0,-11 4 0,-10 11 0,-9 9 0,-1 8 0,9 5 0,14-7 0,10-6 0,8-16 0,2-13 0,-2-12 0,-6-7 0,-9 5 0,-6 10 0,-5 12 0,-6 16 0,-1 15 0,-1 13 0,10 4 0,8-8 0,4-12 0,4-20 0,-2-16 0,-1-17 0,-2-6 0,-2 5 0,-5 12 0,-6 19 0,-4 15 0,-1 13 0,6 10 0,9-4 0,8-8 0,4-10 0,5-11 0,1-11 0,1-12 0,-5-9 0,-5-7 0,-7 5 0,-7 9 0,-5 9 0,-9 13 0,-7 12 0,-4 11 0,8 3 0,12-3 0,14-8 0,14-10 0,9-11 0,7-14 0,-3-12 0,-10-4 0,-13 2 0,-12 9 0,-8 10 0,-19 21 0,-2 13 0,2 7 0,13 0 0,28-13 0,8-5 0,7-7 0,2-18 0,-8-8 0,-7-2 0,-11 5 0,-15 21 0,-5 8 0,-4 9 0,6 1 0,11-3 0,10-5 0,10-5 0,4-7 0,0-7 0,-4-5 0,-8-1 0,-13 10 0,-12 13 0,-5 12 0,-1 3 0,10-5 0,12-7 0,9-6 0,9-6 0,7-9 0,1-10 0,-6-3 0,-10 0 0,-14 10 0,-15 14 0,-10 14 0,-3 9 0,8 0 0,16-9 0,17-15 0,13-10 0,1-7 0,-6 0 0,-17 12 0,-15 11 0,-3 9 0,4 1 0,12-9 0,6-5 0,0-2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18:37:03.94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135 250 24575,'-4'0'0,"-2"0"0,3-4 0,0-8 0,1-13 0,0-6 0,-4-3 0,-3 7 0,-3 10 0,1 6 0,-1 10 0,-1 8 0,1 8 0,0 7 0,6 5 0,8 4 0,12 5 0,14-2 0,7-7 0,-2-10 0,-10-13 0,-8-8 0,-6-7 0,-3-7 0,-5-5 0,-7-5 0,-6 2 0,-2 3 0,2 7 0,-1 11 0,-6 7 0,-6 5 0,-2 4 0,6 1 0,9-1 0,9 0 0,11 0 0,15-4 0,9-9 0,4-10 0,-4-15 0,-12-13 0,-7-5 0,-8 1 0,-6 10 0,-4 15 0,-6 17 0,-4 13 0,-5 12 0,2 5 0,4-1 0,6-3 0,7-5 0,9-3 0,10-3 0,11-2 0,2-5 0,-4-6 0,-10-7 0,-9-6 0,-8-2 0,-11 0 0,-9 4 0,-10 8 0,-3 7 0,4 7 0,5 6 0,8 2 0,7 0 0,7-2 0,8-2 0,3-5 0,3-5 0,-1-7 0,1-9 0,-1-6 0,-3-7 0,-10-1 0,-8 4 0,-6 5 0,-4 11 0,2 11 0,2 9 0,4 6 0,6 3 0,6-2 0,8-4 0,2-6 0,4-6 0,0-6 0,1-9 0,0-10 0,-4-9 0,-7-1 0,-10 3 0,-6 10 0,-7 11 0,-8 16 0,1 9 0,4 8 0,11 0 0,13-6 0,9-5 0,8-7 0,5-6 0,3-8 0,-5-8 0,-5-7 0,-6-4 0,-9 4 0,-3 5 0,-7 10 0,-6 12 0,-6 9 0,2 3 0,7-1 0,8-7 0,8-7 0,4-4 0,4-9 0,1-9 0,-3-12 0,-5-9 0,-9-1 0,-4 8 0,-3 13 0,-5 19 0,-2 17 0,-1 13 0,5 7 0,10-4 0,10-6 0,2-12 0,2-8 0,1-8 0,7-11 0,4-8 0,-1-4 0,-7 3 0,-9 10 0,-7 12 0,-1 11 0,-1 6 0,2 2 0,1-3 0,2-6 0,4-15 0,1-16 0,0-9 0,-4 0 0,-14 21 0,-8 17 0,-3 13 0,3 1 0,12-8 0,4-5 0,4-6 0,3-4 0,9-7 0,8-12 0,3-13 0,-6-6 0,-8 4 0,-8 12 0,-11 18 0,-5 17 0,-5 13 0,3 5 0,9-7 0,6-9 0,4-9 0,7-9 0,2-11 0,0-10 0,-3-2 0,-8 7 0,-8 16 0,-7 18 0,-2 10 0,2 2 0,8-5 0,5-9 0,5-12 0,2-13 0,2-14 0,-1-1 0,-4 3 0,-6 15 0,-3 16 0,-2 6 0,2 5 0,4-4 0,1-5 0,3-6 0,1-3 0,1-3 0,0-1 0,-3 1 0,0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18:37:17.61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89 166 24575,'-5'11'0,"1"6"0,6 13 0,14 8 0,24 5 0,26-6 0,19-15 0,-1-20 0,-16-22 0,-27-13 0,-29-8 0,-22 0 0,-17 3 0,-8 8 0,4 10 0,5 10 0,4 8 0,-1 5 0,-2 2 0,-1 3 0,7 1 0,9-2 0,11-2 0,8-3 0,1-3 0,-2-9 0,-9-12 0,-13-12 0,-6-2 0,-9 4 0,2 11 0,-5 14 0,-7 12 0,1 14 0,3 8 0,16 4 0,15-1 0,14-4 0,8-8 0,5-8 0,-1-7 0,-3-10 0,-3-6 0,-7-5 0,-6-4 0,-9 2 0,-4 4 0,-5 6 0,-3 11 0,-1 11 0,-1 7 0,4 4 0,6-1 0,21 8 0,21 1 0,27 1 0,12-5 0,-9-19 0,-18-16 0,-24-22 0,-17-13 0,-14-8 0,-7 7 0,-9 16 0,-7 18 0,-2 21 0,0 17 0,7 7 0,11 0 0,9-11 0,11-8 0,14-8 0,20-7 0,16-9 0,8-10 0,-10-11 0,-17-9 0,-19 4 0,-19 5 0,-13 13 0,-17 16 0,-9 19 0,-5 17 0,9 9 0,14 3 0,16-12 0,13-14 0,6-11 0,9-17 0,5-10 0,3-15 0,-8-3 0,-11 2 0,-12 8 0,-14 11 0,-10 8 0,-9 16 0,0 15 0,9 7 0,12 2 0,15-8 0,14-11 0,14-11 0,14-13 0,3-12 0,-3-15 0,-15-8 0,-18-2 0,-14 10 0,-14 18 0,-5 18 0,-5 15 0,4 8 0,9-1 0,10-3 0,13-7 0,11-3 0,10-6 0,9-8 0,4-12 0,-5-14 0,-13-7 0,-18-2 0,-20 12 0,-23 17 0,-17 24 0,-10 21 0,10 11 0,18-1 0,20-15 0,19-14 0,14-12 0,16-11 0,4-1 0,-5-1 0,-17 4 0,-16 4 0,-5 2 0,0 1 0,2-1 0,3-3 0,3 1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18:37:27.37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226 156 24575,'2'15'0,"3"2"0,5 1 0,5-3 0,4-4 0,3-4 0,0-9 0,-2-8 0,-3-13 0,-9-14 0,-21-10 0,-19-2 0,-5 11 0,5 15 0,16 14 0,8 11 0,0 4 0,0 5 0,0 4 0,1 1 0,2-2 0,4-2 0,3-4 0,6-2 0,8-1 0,4-1 0,-3-3 0,-6-3 0,-13-4 0,-10-3 0,-5 2 0,-4 5 0,1 6 0,2 5 0,-1 5 0,4 3 0,5 2 0,9 2 0,11-2 0,14 0 0,8-6 0,4-8 0,-6-7 0,-11-8 0,-12-7 0,-12-6 0,-7 2 0,-14 4 0,-15 12 0,-12 14 0,-1 9 0,8 8 0,18-1 0,13-4 0,8-6 0,10-6 0,9-3 0,5-4 0,4-6 0,-1-14 0,-2-17 0,-5-14 0,-9-5 0,-5 16 0,-5 21 0,4 28 0,5 21 0,5 9 0,3-4 0,3-13 0,4-16 0,13-16 0,18-15 0,4-15 0,-12-1 0,-23 3 0,-24 13 0,-16 14 0,-8 13 0,-9 19 0,3 5 0,8-1 0,12-10 0,15-10 0,13-3 0,16-7 0,5-4 0,-2-4 0,-15 4 0,-16 8 0,-12 11 0,-6 9 0,1 1 0,5-6 0,6-14 0,4-14 0,-3-12 0,-4-4 0,-5 6 0,-3 9 0,-4 15 0,1 12 0,4 10 0,5 5 0,10-5 0,9-7 0,10-9 0,7-7 0,-1-8 0,-8-8 0,-19-7 0,-18-1 0,-8 5 0,2 10 0,9 12 0,10 5 0,4 1 0,5-2 0,4-4 0,2-2 0,1-1 0,0-1 0,-4 0 0,-1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18:37:35.5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256 160 24575,'-6'-2'0,"-3"1"0,-2 1 0,-7 2 0,-6 1 0,-3 3 0,1 1 0,6 3 0,5 2 0,7 1 0,3 1 0,6-1 0,8-3 0,11-6 0,14-11 0,9-15 0,-1-10 0,-9-2 0,-15 9 0,-13 10 0,-8 8 0,-5 4 0,-7 4 0,-7 4 0,-3 4 0,1 4 0,5 5 0,9 4 0,10-2 0,11-5 0,10-13 0,12-18 0,7-20 0,1-13 0,-13 3 0,-18 10 0,-15 17 0,-9 12 0,0 5 0,1 8 0,0 5 0,1 9 0,2 7 0,5 1 0,7-3 0,4-8 0,2-6 0,0-6 0,0-7 0,0-9 0,0-12 0,-9-8 0,-13-4 0,-10 12 0,-17 21 0,-11 28 0,-10 23 0,5 7 0,18-3 0,19-18 0,18-15 0,5-10 0,7-9 0,0-4 0,0-6 0,-3-7 0,-3-6 0,-3-1 0,-5 3 0,-5 11 0,-3 15 0,-1 16 0,9 11 0,10 2 0,6-8 0,7-21 0,3-27 0,3-29 0,1-17 0,-9 6 0,-9 16 0,-9 25 0,-4 23 0,0 15 0,0 13 0,2 3 0,5-5 0,5-9 0,7-11 0,10-13 0,5-9 0,5-10 0,0-9 0,-11 5 0,-10 7 0,-13 10 0,-10 14 0,-3 7 0,-2 7 0,4 1 0,6 0 0,9-5 0,11-6 0,5-6 0,3-11 0,-9-11 0,-15-10 0,-20 1 0,-18 7 0,-7 19 0,-3 23 0,12 10 0,12 4 0,18-10 0,22-10 0,26-6 0,21-5 0,-1-4 0,-15-8 0,-27-5 0,-19-2 0,-8 2 0,-7 8 0,-4 9 0,2 5 0,4 1 0,7-4 0,4-3 0,0-2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18:37:44.66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118 201 24575,'-3'-10'0,"0"1"0,-1-3 0,-2 0 0,0 2 0,0 3 0,0 10 0,2 8 0,3 8 0,6 4 0,7 2 0,4 0 0,0-5 0,-5-7 0,-4-6 0,0-8 0,2-7 0,3-13 0,-2-9 0,-2-6 0,-4 5 0,-7 10 0,-5 9 0,-6 11 0,-2 6 0,-1 8 0,1 13 0,2 17 0,4 5 0,6 0 0,9-14 0,11-16 0,7-12 0,10-15 0,0-11 0,-9-6 0,-10-1 0,-12 6 0,-4 6 0,-2 3 0,-5 3 0,-12 1 0,-10 0 0,-2 2 0,2 1 0,11 4 0,7 4 0,1 8 0,3 10 0,3 4 0,5 4 0,7-4 0,9-5 0,7-4 0,6-6 0,-1-6 0,-1-14 0,-7-11 0,-6-12 0,-9-3 0,-9 3 0,-4 6 0,-3 11 0,-2 8 0,-5 8 0,-5 6 0,-5 5 0,4 4 0,7 4 0,8 0 0,9-2 0,7-4 0,5-4 0,4-5 0,6-5 0,0-6 0,-1-10 0,-5-10 0,-7-4 0,-7 5 0,-2 7 0,-6 14 0,-3 7 0,-1 7 0,-1 6 0,7 4 0,8 0 0,9 0 0,7-4 0,-1-6 0,-2-6 0,-7-14 0,-4-17 0,-6-21 0,-16-14 0,-13 4 0,-2 17 0,2 24 0,7 25 0,1 20 0,0 8 0,6-1 0,10-9 0,8-12 0,5-6 0,4-4 0,0-4 0,-1-6 0,-4-6 0,-5-7 0,-3 1 0,-2 7 0,-1 8 0,2 8 0,3 0 0,1-2 0,1-2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18:37:50.32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371 73 24575,'-7'13'0,"1"2"0,0 7 0,3 0 0,5 0 0,4-3 0,3-7 0,2-5 0,1-8 0,1-7 0,5-10 0,-1-10 0,-2-4 0,-8 1 0,-8 8 0,-5 10 0,-4 9 0,-4 7 0,-7 16 0,-3 13 0,4 6 0,7 3 0,11-11 0,13-10 0,12-9 0,10-9 0,1-6 0,-5-8 0,-8-12 0,-9-9 0,-7-1 0,-7 6 0,-5 12 0,-2 10 0,-6 8 0,-11 13 0,-16 17 0,-2 11 0,8 5 0,16-9 0,22-13 0,9-10 0,15-12 0,11-12 0,6-17 0,-6-14 0,-10-14 0,-15 5 0,-10 10 0,-4 17 0,-6 19 0,-1 12 0,-2 12 0,1 6 0,5 1 0,7-2 0,6-7 0,1-8 0,0-7 0,-4-13 0,-2-17 0,-4-18 0,-8-13 0,-6 7 0,-3 15 0,1 19 0,-2 22 0,-17 23 0,-21 27 0,0 5 0,14-10 0,26-22 0,23-24 0,5-11 0,5-10 0,2-14 0,-3-8 0,-6-3 0,-10 5 0,-7 9 0,-3 10 0,-3 11 0,2 11 0,-2 9 0,3 10 0,5 5 0,10 4 0,8-5 0,7-9 0,2-8 0,-1-14 0,2-16 0,0-18 0,-5-9 0,-10 1 0,-12 14 0,-10 24 0,-5 19 0,4 14 0,3 5 0,8-7 0,6-6 0,4-5 0,6-4 0,3-3 0,3-4 0,2-16 0,-2-14 0,-6-5 0,-10 4 0,-14 19 0,-13 26 0,-6 22 0,3 14 0,13-3 0,22-15 0,25-25 0,22-30 0,3-13 0,-7-9 0,-21 9 0,-30 17 0,-37 11 0,-48 18 0,27 1 0,-1 4 0,0 1 0,4 2 0,-25 17 0,47-16 0,41-22 0,21-13 0,7-6 0,-5 4 0,-14 8 0,-13 7 0,-2 2 0,2-1 0,-1-1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9CE87-8FA5-E142-A7E7-91E3F48B5845}" type="datetimeFigureOut">
              <a:rPr lang="en-US" smtClean="0"/>
              <a:t>10/3/24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C23D9-EA8E-AB48-8A32-6653EF8E7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17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Pathogens recovered differently after suppression during the pandemic – why?</a:t>
            </a:r>
          </a:p>
          <a:p>
            <a:r>
              <a:rPr lang="en-US" dirty="0"/>
              <a:t>Hypothesis: different recovery of </a:t>
            </a:r>
            <a:r>
              <a:rPr lang="en-US" dirty="0" err="1"/>
              <a:t>susceptibles</a:t>
            </a:r>
            <a:endParaRPr lang="en-US" dirty="0"/>
          </a:p>
          <a:p>
            <a:r>
              <a:rPr lang="en-US" dirty="0"/>
              <a:t>Different ways to recover </a:t>
            </a:r>
            <a:r>
              <a:rPr lang="en-US" dirty="0" err="1"/>
              <a:t>susceptibles</a:t>
            </a:r>
            <a:r>
              <a:rPr lang="en-US" dirty="0"/>
              <a:t> – classing immune escape and waning together</a:t>
            </a:r>
          </a:p>
          <a:p>
            <a:r>
              <a:rPr lang="en-US" dirty="0"/>
              <a:t>So we need an age-structured model with waning immunity</a:t>
            </a:r>
          </a:p>
          <a:p>
            <a:endParaRPr lang="en-US" dirty="0"/>
          </a:p>
          <a:p>
            <a:r>
              <a:rPr lang="en-US" dirty="0"/>
              <a:t>SIR model, multiple susceptibility classes needed to fit certain infections</a:t>
            </a:r>
          </a:p>
          <a:p>
            <a:r>
              <a:rPr lang="en-US" dirty="0"/>
              <a:t>Sketch out compartments, write down equations</a:t>
            </a:r>
          </a:p>
          <a:p>
            <a:endParaRPr lang="en-US" dirty="0"/>
          </a:p>
          <a:p>
            <a:r>
              <a:rPr lang="en-US" dirty="0"/>
              <a:t>In absence of Kaiser data to fit to, running with Pitzer </a:t>
            </a:r>
            <a:r>
              <a:rPr lang="en-US" dirty="0" err="1"/>
              <a:t>rota</a:t>
            </a:r>
            <a:r>
              <a:rPr lang="en-US" dirty="0"/>
              <a:t> data and a guess at a flu-like pathogen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C23D9-EA8E-AB48-8A32-6653EF8E7A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833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“Child disease” characterized by high growth rate but low population </a:t>
            </a:r>
            <a:r>
              <a:rPr lang="en-US" dirty="0" err="1"/>
              <a:t>susceptibiilty</a:t>
            </a:r>
            <a:r>
              <a:rPr lang="en-US" dirty="0"/>
              <a:t> (slow waning) and heterogeneity between susceptibility classes, relies on new </a:t>
            </a:r>
            <a:r>
              <a:rPr lang="en-US" dirty="0" err="1"/>
              <a:t>susceptibles</a:t>
            </a:r>
            <a:r>
              <a:rPr lang="en-US" dirty="0"/>
              <a:t> being born</a:t>
            </a:r>
          </a:p>
          <a:p>
            <a:r>
              <a:rPr lang="en-US" dirty="0"/>
              <a:t>“Adult disease” characterized by low growth rate but high population susceptibility and homogeneity between susceptibility classes, relies on waning immunity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C23D9-EA8E-AB48-8A32-6653EF8E7A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50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Susceptibility along with growth rate affects time to post-lockdown rebound</a:t>
            </a:r>
          </a:p>
          <a:p>
            <a:r>
              <a:rPr lang="en-US" dirty="0"/>
              <a:t>At thresholds peak is largest since between thresholds the rebound is more staged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C23D9-EA8E-AB48-8A32-6653EF8E7AC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1041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I’ve shown simple relationships so far, but this is just a bit of a mess of figures to show that the relationship can be more complicated – but the broad patterns are still there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C23D9-EA8E-AB48-8A32-6653EF8E7AC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695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8ECFF-2949-5C04-DD93-2F60C7595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20B587-8DAC-1457-720C-FAF10B88E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67494-620F-688C-798A-FA4CFFDBC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5F7B-D2A5-E449-9AB1-558181885A97}" type="datetimeFigureOut">
              <a:rPr lang="en-US" smtClean="0"/>
              <a:t>10/3/24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D5F0F-56D5-A298-C11F-021E23B82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1B037-4BED-68CE-59C2-83A87B8CE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1D00C-A22A-EA48-8069-178D8F1DF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259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5CB6-FBD0-2CCE-BF79-3DF0DB556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5AF74-297D-43CB-00AB-9BADC7F08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9F1B1-5BDD-B465-BD68-542451890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5F7B-D2A5-E449-9AB1-558181885A97}" type="datetimeFigureOut">
              <a:rPr lang="en-US" smtClean="0"/>
              <a:t>10/3/24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AB0F3-7A53-7B72-64A5-B053E2EE2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F0E56-9EC2-EED4-2EB8-7AE323726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1D00C-A22A-EA48-8069-178D8F1DF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922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7B469-1DCD-E310-3D72-A7CAB5994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2B064-683F-A4FC-276C-2AB42E801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D0DF6-FB59-DB1A-05FD-AE790314B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5F7B-D2A5-E449-9AB1-558181885A97}" type="datetimeFigureOut">
              <a:rPr lang="en-US" smtClean="0"/>
              <a:t>10/3/24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6BB12-9F36-135F-8685-FFFA615B1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78E34-AF3D-391C-20C8-061CF4A63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1D00C-A22A-EA48-8069-178D8F1DF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6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E1EF8-FA0C-EF25-5E47-9A8CACDCD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EF377-9FAF-EC1D-F8C1-8F6CEE791B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FFFB2-6BAB-8D02-AD0E-866B4BF7D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93A9E-DE19-9955-6817-2F70FA838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5F7B-D2A5-E449-9AB1-558181885A97}" type="datetimeFigureOut">
              <a:rPr lang="en-US" smtClean="0"/>
              <a:t>10/3/24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83028-29D8-B695-893C-D7ED31177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969ED-BBB7-6607-D8D2-719E3DD0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1D00C-A22A-EA48-8069-178D8F1DF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705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8D0E0-A433-8078-1DFF-1B4491AE4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93B09-F423-7402-3BF4-CACD32590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C15E5E-3DE8-B538-2B3C-A1AA49751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D15F0F-B1BE-268D-4747-E626C48D2F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57CD41-C7C7-2C0F-B0E8-5E08A09CC3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145371-ADDF-C700-B865-5338BA42E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5F7B-D2A5-E449-9AB1-558181885A97}" type="datetimeFigureOut">
              <a:rPr lang="en-US" smtClean="0"/>
              <a:t>10/3/24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D55CB4-15D2-D8D5-FADA-4D96853C2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AC4DC5-F438-E08A-ADE1-457C04D37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1D00C-A22A-EA48-8069-178D8F1DF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4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9E3F-45E0-76E4-7732-E6D73D031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6066F1-8E18-F79A-077E-9E8EAB68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5F7B-D2A5-E449-9AB1-558181885A97}" type="datetimeFigureOut">
              <a:rPr lang="en-US" smtClean="0"/>
              <a:t>10/3/24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EC9F2E-9511-F135-26CD-551FB4EFE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9A7D35-3A84-34D2-5793-DDC64CB23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1D00C-A22A-EA48-8069-178D8F1DF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15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288792-D837-1449-7C93-6FC06FBC6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5F7B-D2A5-E449-9AB1-558181885A97}" type="datetimeFigureOut">
              <a:rPr lang="en-US" smtClean="0"/>
              <a:t>10/3/24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8ADEC3-F450-9E16-A2CF-99F6C61E0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E4926-965D-AEA1-4BAC-63FBBB59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1D00C-A22A-EA48-8069-178D8F1DF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605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8BC1A-E9CA-A665-F3E7-465529F4F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2B894-5C41-DAEF-9CA3-0C1545048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9E8B98-7E94-8466-5601-47BD78CB3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1A5FB-4F1C-935C-DD7C-4AE51719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5F7B-D2A5-E449-9AB1-558181885A97}" type="datetimeFigureOut">
              <a:rPr lang="en-US" smtClean="0"/>
              <a:t>10/3/24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ED2C5-A6D4-CAF9-115C-232AA399C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25C96-720E-3D24-DD7F-1D3938A41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1D00C-A22A-EA48-8069-178D8F1DF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5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B78CC-AA89-29E7-B333-0450E09A5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CE8816-8C47-8E69-B0D3-820E2B2C57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4073B4-24A5-D7A1-7D05-F0281F3EB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096F7-6420-4195-B368-B1FF24364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5F7B-D2A5-E449-9AB1-558181885A97}" type="datetimeFigureOut">
              <a:rPr lang="en-US" smtClean="0"/>
              <a:t>10/3/24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1E504-208D-5A4A-CCDE-4E658FA80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0AE29-E303-5BEE-79AF-02BF08EF5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1D00C-A22A-EA48-8069-178D8F1DF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5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ABD7C-D8C8-7DEA-1D53-435569394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C5198-3190-851F-B9EE-1EC176F12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52523-58FE-3583-6442-F43E064C1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5F7B-D2A5-E449-9AB1-558181885A97}" type="datetimeFigureOut">
              <a:rPr lang="en-US" smtClean="0"/>
              <a:t>10/3/24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07518-A358-CE9D-083F-DABE76462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255AE-C299-B842-6673-A87F4DEF8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1D00C-A22A-EA48-8069-178D8F1DF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892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29154E-6187-0D83-D5A1-7093773FF4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809D8D-ACCB-6336-5A56-C0303E824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FBFF1-CD5C-EDD0-EB05-52B23F280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5F7B-D2A5-E449-9AB1-558181885A97}" type="datetimeFigureOut">
              <a:rPr lang="en-US" smtClean="0"/>
              <a:t>10/3/24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8ED1B-246F-B544-A7B3-62E3A06FB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C4F17-E360-44DA-69B2-51E0BB59E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1D00C-A22A-EA48-8069-178D8F1DF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586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45339C-463D-FEA4-A285-5C815FDAB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84C1C-0F5A-EF3C-5718-5E4DC2205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8607F-6F1E-0B14-0226-F22078F2A0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DC5F7B-D2A5-E449-9AB1-558181885A97}" type="datetimeFigureOut">
              <a:rPr lang="en-US" smtClean="0"/>
              <a:t>10/3/24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DAA26-C8ED-3D2B-EEBD-BF210F3B5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54718-7A5E-A137-52A8-D096E6866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61D00C-A22A-EA48-8069-178D8F1DF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70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5.xml"/><Relationship Id="rId18" Type="http://schemas.openxmlformats.org/officeDocument/2006/relationships/image" Target="../media/image11.png"/><Relationship Id="rId3" Type="http://schemas.openxmlformats.org/officeDocument/2006/relationships/image" Target="../media/image3.png"/><Relationship Id="rId21" Type="http://schemas.openxmlformats.org/officeDocument/2006/relationships/customXml" Target="../ink/ink9.xml"/><Relationship Id="rId7" Type="http://schemas.openxmlformats.org/officeDocument/2006/relationships/customXml" Target="../ink/ink2.xml"/><Relationship Id="rId12" Type="http://schemas.openxmlformats.org/officeDocument/2006/relationships/image" Target="../media/image8.png"/><Relationship Id="rId17" Type="http://schemas.openxmlformats.org/officeDocument/2006/relationships/customXml" Target="../ink/ink7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10" Type="http://schemas.openxmlformats.org/officeDocument/2006/relationships/image" Target="../media/image7.png"/><Relationship Id="rId19" Type="http://schemas.openxmlformats.org/officeDocument/2006/relationships/customXml" Target="../ink/ink8.xml"/><Relationship Id="rId4" Type="http://schemas.openxmlformats.org/officeDocument/2006/relationships/image" Target="../media/image4.png"/><Relationship Id="rId9" Type="http://schemas.openxmlformats.org/officeDocument/2006/relationships/customXml" Target="../ink/ink3.xml"/><Relationship Id="rId14" Type="http://schemas.openxmlformats.org/officeDocument/2006/relationships/image" Target="../media/image9.png"/><Relationship Id="rId22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D13F-13CD-0D87-8C44-37A0654B2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Pathogens recovered differently after suppression during the pandemic</a:t>
            </a:r>
          </a:p>
        </p:txBody>
      </p:sp>
      <p:pic>
        <p:nvPicPr>
          <p:cNvPr id="5" name="Content Placeholder 4" descr="A graph of virus and influenza&#10;&#10;Description automatically generated with medium confidence">
            <a:extLst>
              <a:ext uri="{FF2B5EF4-FFF2-40B4-BE49-F238E27FC236}">
                <a16:creationId xmlns:a16="http://schemas.microsoft.com/office/drawing/2014/main" id="{8682A97E-5C13-73CF-2C5E-D44FFD72CB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185738"/>
            <a:ext cx="10515600" cy="363111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23779F-EAEF-7854-8619-A4E163ABF82D}"/>
              </a:ext>
            </a:extLst>
          </p:cNvPr>
          <p:cNvSpPr txBox="1"/>
          <p:nvPr/>
        </p:nvSpPr>
        <p:spPr>
          <a:xfrm>
            <a:off x="7716033" y="6127233"/>
            <a:ext cx="3367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Dagan et al. </a:t>
            </a:r>
            <a:r>
              <a:rPr lang="en-US" dirty="0" err="1"/>
              <a:t>eBioMedicine</a:t>
            </a:r>
            <a:r>
              <a:rPr lang="en-US" dirty="0"/>
              <a:t>, 2023</a:t>
            </a:r>
          </a:p>
        </p:txBody>
      </p:sp>
    </p:spTree>
    <p:extLst>
      <p:ext uri="{BB962C8B-B14F-4D97-AF65-F5344CB8AC3E}">
        <p14:creationId xmlns:p14="http://schemas.microsoft.com/office/powerpoint/2010/main" val="93887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disease&#10;&#10;Description automatically generated with medium confidence">
            <a:extLst>
              <a:ext uri="{FF2B5EF4-FFF2-40B4-BE49-F238E27FC236}">
                <a16:creationId xmlns:a16="http://schemas.microsoft.com/office/drawing/2014/main" id="{38ECB5AF-6D18-C45E-9681-43F445FDB3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31671" y="364671"/>
            <a:ext cx="6128657" cy="6128657"/>
          </a:xfrm>
        </p:spPr>
      </p:pic>
    </p:spTree>
    <p:extLst>
      <p:ext uri="{BB962C8B-B14F-4D97-AF65-F5344CB8AC3E}">
        <p14:creationId xmlns:p14="http://schemas.microsoft.com/office/powerpoint/2010/main" val="1889851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graph&#10;&#10;Description automatically generated">
            <a:extLst>
              <a:ext uri="{FF2B5EF4-FFF2-40B4-BE49-F238E27FC236}">
                <a16:creationId xmlns:a16="http://schemas.microsoft.com/office/drawing/2014/main" id="{0316DE99-8E1F-38A4-9008-0A4A3F60F9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554" t="34074" r="2951" b="34815"/>
          <a:stretch/>
        </p:blipFill>
        <p:spPr>
          <a:xfrm>
            <a:off x="4665228" y="67594"/>
            <a:ext cx="4152146" cy="3633127"/>
          </a:xfrm>
          <a:prstGeom prst="rect">
            <a:avLst/>
          </a:prstGeom>
        </p:spPr>
      </p:pic>
      <p:pic>
        <p:nvPicPr>
          <p:cNvPr id="10" name="Picture 9" descr="A screenshot of a graph&#10;&#10;Description automatically generated">
            <a:extLst>
              <a:ext uri="{FF2B5EF4-FFF2-40B4-BE49-F238E27FC236}">
                <a16:creationId xmlns:a16="http://schemas.microsoft.com/office/drawing/2014/main" id="{27FC98EE-1E59-49A8-00CD-F536CB8898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014" t="65609" b="4354"/>
          <a:stretch/>
        </p:blipFill>
        <p:spPr>
          <a:xfrm>
            <a:off x="418778" y="15867"/>
            <a:ext cx="4416616" cy="3541486"/>
          </a:xfrm>
          <a:prstGeom prst="rect">
            <a:avLst/>
          </a:prstGeom>
        </p:spPr>
      </p:pic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5794A7F2-C483-D16A-3DA3-949FB5DAFC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54647" t="1139" r="7650" b="66238"/>
          <a:stretch/>
        </p:blipFill>
        <p:spPr>
          <a:xfrm>
            <a:off x="8817374" y="15867"/>
            <a:ext cx="3210847" cy="3633127"/>
          </a:xfrm>
        </p:spPr>
      </p:pic>
      <p:pic>
        <p:nvPicPr>
          <p:cNvPr id="12" name="Picture 11" descr="A screenshot of a graph&#10;&#10;Description automatically generated">
            <a:extLst>
              <a:ext uri="{FF2B5EF4-FFF2-40B4-BE49-F238E27FC236}">
                <a16:creationId xmlns:a16="http://schemas.microsoft.com/office/drawing/2014/main" id="{CAC8565D-2812-D8AA-5D10-A2779E5477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946" t="95449" r="21770" b="529"/>
          <a:stretch/>
        </p:blipFill>
        <p:spPr>
          <a:xfrm>
            <a:off x="1380409" y="3648994"/>
            <a:ext cx="1488455" cy="589181"/>
          </a:xfrm>
          <a:prstGeom prst="rect">
            <a:avLst/>
          </a:prstGeom>
        </p:spPr>
      </p:pic>
      <p:pic>
        <p:nvPicPr>
          <p:cNvPr id="13" name="Picture 12" descr="A screenshot of a graph&#10;&#10;Description automatically generated">
            <a:extLst>
              <a:ext uri="{FF2B5EF4-FFF2-40B4-BE49-F238E27FC236}">
                <a16:creationId xmlns:a16="http://schemas.microsoft.com/office/drawing/2014/main" id="{2CE6F697-8FDC-2816-C454-8141E87B3D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946" t="95449" r="21770" b="529"/>
          <a:stretch/>
        </p:blipFill>
        <p:spPr>
          <a:xfrm>
            <a:off x="9755147" y="3648993"/>
            <a:ext cx="1488455" cy="589181"/>
          </a:xfrm>
          <a:prstGeom prst="rect">
            <a:avLst/>
          </a:prstGeom>
        </p:spPr>
      </p:pic>
      <p:pic>
        <p:nvPicPr>
          <p:cNvPr id="14" name="Picture 13" descr="A screenshot of a graph&#10;&#10;Description automatically generated">
            <a:extLst>
              <a:ext uri="{FF2B5EF4-FFF2-40B4-BE49-F238E27FC236}">
                <a16:creationId xmlns:a16="http://schemas.microsoft.com/office/drawing/2014/main" id="{93449AE9-DFFB-A439-2F93-74BE95A0D3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946" t="95449" r="21770" b="529"/>
          <a:stretch/>
        </p:blipFill>
        <p:spPr>
          <a:xfrm>
            <a:off x="5773167" y="3648994"/>
            <a:ext cx="1488455" cy="589181"/>
          </a:xfrm>
          <a:prstGeom prst="rect">
            <a:avLst/>
          </a:prstGeom>
        </p:spPr>
      </p:pic>
      <p:pic>
        <p:nvPicPr>
          <p:cNvPr id="16" name="Picture 15" descr="A screenshot of a graph&#10;&#10;Description automatically generated">
            <a:extLst>
              <a:ext uri="{FF2B5EF4-FFF2-40B4-BE49-F238E27FC236}">
                <a16:creationId xmlns:a16="http://schemas.microsoft.com/office/drawing/2014/main" id="{E8CEFBDE-3BB2-B546-575D-AD4B40E1EF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26" t="44232" r="94807" b="43916"/>
          <a:stretch/>
        </p:blipFill>
        <p:spPr>
          <a:xfrm>
            <a:off x="163779" y="1166879"/>
            <a:ext cx="377321" cy="1639470"/>
          </a:xfrm>
          <a:prstGeom prst="rect">
            <a:avLst/>
          </a:prstGeom>
        </p:spPr>
      </p:pic>
      <p:pic>
        <p:nvPicPr>
          <p:cNvPr id="18" name="Picture 17" descr="A graph of a number of people&#10;&#10;Description automatically generated with medium confidence">
            <a:extLst>
              <a:ext uri="{FF2B5EF4-FFF2-40B4-BE49-F238E27FC236}">
                <a16:creationId xmlns:a16="http://schemas.microsoft.com/office/drawing/2014/main" id="{E4E84EE3-75F8-6470-34D4-570D30DF1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5895" y="4238174"/>
            <a:ext cx="8294754" cy="255223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42C6B17-CB24-77BD-BF5B-84B5A616D98B}"/>
                  </a:ext>
                </a:extLst>
              </p14:cNvPr>
              <p14:cNvContentPartPr/>
              <p14:nvPr/>
            </p14:nvContentPartPr>
            <p14:xfrm>
              <a:off x="9996011" y="2838131"/>
              <a:ext cx="3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42C6B17-CB24-77BD-BF5B-84B5A616D98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989891" y="283201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C990C70-4FD5-1EFE-3C5B-97B5E7BD5591}"/>
                  </a:ext>
                </a:extLst>
              </p14:cNvPr>
              <p14:cNvContentPartPr/>
              <p14:nvPr/>
            </p14:nvContentPartPr>
            <p14:xfrm>
              <a:off x="9944171" y="2798891"/>
              <a:ext cx="118080" cy="655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C990C70-4FD5-1EFE-3C5B-97B5E7BD559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938051" y="2792771"/>
                <a:ext cx="13032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5268A8C-B121-9815-BE94-C3FEAF9B9257}"/>
                  </a:ext>
                </a:extLst>
              </p14:cNvPr>
              <p14:cNvContentPartPr/>
              <p14:nvPr/>
            </p14:nvContentPartPr>
            <p14:xfrm>
              <a:off x="10677851" y="2814731"/>
              <a:ext cx="97560" cy="1076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5268A8C-B121-9815-BE94-C3FEAF9B925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671731" y="2808611"/>
                <a:ext cx="10980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6EB0419-792B-BFE8-683F-1F9892DC7D25}"/>
                  </a:ext>
                </a:extLst>
              </p14:cNvPr>
              <p14:cNvContentPartPr/>
              <p14:nvPr/>
            </p14:nvContentPartPr>
            <p14:xfrm>
              <a:off x="10656611" y="2113091"/>
              <a:ext cx="85680" cy="1112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6EB0419-792B-BFE8-683F-1F9892DC7D2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650491" y="2106971"/>
                <a:ext cx="9792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82E0E36-E340-AFCF-AA71-6323302B145A}"/>
                  </a:ext>
                </a:extLst>
              </p14:cNvPr>
              <p14:cNvContentPartPr/>
              <p14:nvPr/>
            </p14:nvContentPartPr>
            <p14:xfrm>
              <a:off x="6595091" y="2155931"/>
              <a:ext cx="177840" cy="1317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82E0E36-E340-AFCF-AA71-6323302B145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88971" y="2149811"/>
                <a:ext cx="19008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C3F1B10-C6D0-9567-F379-2F4F5BAC35BC}"/>
                  </a:ext>
                </a:extLst>
              </p14:cNvPr>
              <p14:cNvContentPartPr/>
              <p14:nvPr/>
            </p14:nvContentPartPr>
            <p14:xfrm>
              <a:off x="6602291" y="2816531"/>
              <a:ext cx="131760" cy="90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C3F1B10-C6D0-9567-F379-2F4F5BAC35B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596171" y="2810411"/>
                <a:ext cx="14400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9F5D0D2-6A76-2C31-1BC5-CEF88300483D}"/>
                  </a:ext>
                </a:extLst>
              </p14:cNvPr>
              <p14:cNvContentPartPr/>
              <p14:nvPr/>
            </p14:nvContentPartPr>
            <p14:xfrm>
              <a:off x="5886251" y="2808971"/>
              <a:ext cx="126360" cy="108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9F5D0D2-6A76-2C31-1BC5-CEF88300483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880131" y="2802851"/>
                <a:ext cx="13860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1880016-49B6-ECAF-0A31-4E45179C4AB1}"/>
                  </a:ext>
                </a:extLst>
              </p14:cNvPr>
              <p14:cNvContentPartPr/>
              <p14:nvPr/>
            </p14:nvContentPartPr>
            <p14:xfrm>
              <a:off x="10655171" y="1743011"/>
              <a:ext cx="87840" cy="1321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1880016-49B6-ECAF-0A31-4E45179C4AB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649051" y="1736891"/>
                <a:ext cx="10008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FCA14CF-EE43-E14A-C3E2-94F1787E3582}"/>
                  </a:ext>
                </a:extLst>
              </p14:cNvPr>
              <p14:cNvContentPartPr/>
              <p14:nvPr/>
            </p14:nvContentPartPr>
            <p14:xfrm>
              <a:off x="6525971" y="1793411"/>
              <a:ext cx="185760" cy="1123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FCA14CF-EE43-E14A-C3E2-94F1787E358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519851" y="1787291"/>
                <a:ext cx="198000" cy="12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6840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green and blue squares&#10;&#10;Description automatically generated">
            <a:extLst>
              <a:ext uri="{FF2B5EF4-FFF2-40B4-BE49-F238E27FC236}">
                <a16:creationId xmlns:a16="http://schemas.microsoft.com/office/drawing/2014/main" id="{AEB6985A-815A-87CD-A7D7-0EEBFE9984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0779" y="0"/>
            <a:ext cx="5244352" cy="6858000"/>
          </a:xfrm>
        </p:spPr>
      </p:pic>
      <p:pic>
        <p:nvPicPr>
          <p:cNvPr id="7" name="Picture 6" descr="A group of colored squares&#10;&#10;Description automatically generated with medium confidence">
            <a:extLst>
              <a:ext uri="{FF2B5EF4-FFF2-40B4-BE49-F238E27FC236}">
                <a16:creationId xmlns:a16="http://schemas.microsoft.com/office/drawing/2014/main" id="{0326355D-2179-F1E0-8F5D-116434D70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871" y="0"/>
            <a:ext cx="55052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436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207</Words>
  <Application>Microsoft Macintosh PowerPoint</Application>
  <PresentationFormat>Widescreen</PresentationFormat>
  <Paragraphs>20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Futura Medium</vt:lpstr>
      <vt:lpstr>Office Theme</vt:lpstr>
      <vt:lpstr>Pathogens recovered differently after suppression during the pandemic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Singer</dc:creator>
  <cp:lastModifiedBy>Benjamin Singer</cp:lastModifiedBy>
  <cp:revision>1</cp:revision>
  <dcterms:created xsi:type="dcterms:W3CDTF">2024-10-03T15:22:34Z</dcterms:created>
  <dcterms:modified xsi:type="dcterms:W3CDTF">2024-10-03T18:57:02Z</dcterms:modified>
</cp:coreProperties>
</file>