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30" d="100"/>
          <a:sy n="130" d="100"/>
        </p:scale>
        <p:origin x="328" y="-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2AA40-471B-9348-98AB-185CFAF0C4E5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AEC37F-D920-834D-ACE1-F559B4017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740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EC37F-D920-834D-ACE1-F559B40175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6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Rate Ratio of RSV in presence of vaccination relative to absence, minimum and maximum plotted</a:t>
            </a:r>
          </a:p>
          <a:p>
            <a:r>
              <a:rPr lang="en-US" dirty="0"/>
              <a:t>Dotted lines are in presence of vaccination, solid lines absence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AEC37F-D920-834D-ACE1-F559B40175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5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F02F-CAD5-508A-0E97-3CAB1468D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653C67-5C61-63DC-DD0B-7C54F9ADD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8EE64-1DCE-CCCD-D1E1-FA535B833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0718A-D7EF-7A65-1B97-A571C8811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E723B-6183-3342-983A-24D4D782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191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1614-7A0D-518F-C7F3-522B7461F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FDE45-CDAE-B5B6-62D6-8E7368DA3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D7AB0-C0FD-5464-6BD0-84180AED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4E693-12AB-AFE5-DD45-9385E8201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E743D-74ED-23CC-CB76-5892BEBCE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37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3E96-57DA-B956-566F-291DB6B2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63EB88-ADBD-C5FD-F828-E90000B5A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8C5FA-C247-ACDE-7A43-709D5C71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E0D1-1011-57BA-ECC4-634633E4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931DB-AEDC-ADC4-9774-EE233DBD8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49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D3964-4863-3AA0-610E-6477C910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5993D-B2B8-5342-879C-B698740180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57024-98E3-8E42-EDED-E82BECF01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20B91-7820-A152-0F3A-44BA14F69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E894B-C016-D5E9-AD24-21554AD50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F18E7-4947-6491-9077-4ADDD057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9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A293-49E2-F2A9-A4A6-9127EC9A0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864AA-71E2-D451-F638-8416E5134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4A81C-6250-CB23-1EE8-BB9E93BAE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B1548-3C0E-15C0-3C6B-A6AFAE2084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B09CB-EA89-44D5-607B-CA93D8210A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891CD6-D39D-74F2-3029-A4B22DC5E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AFC514-E3ED-A936-25E9-65A14FDF1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9818F7-2B77-9074-3A7E-A24D6531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5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188A0-7BB6-BCDD-DC54-AA41B5254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57022-D0B4-56E0-17D6-CBC41A3DD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8E17B1-86B2-0361-A6AA-B456B0E7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A2881-F73B-BB5D-4270-14FA43C5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99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6771AB-C7E3-36B8-5645-EDA090C6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2927A-ECAB-EA3E-B8B6-DEA09C4CC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5563-0E2A-837F-19B5-F17B5DF14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062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4875-B483-046F-1778-95A62F58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35004A-A54F-408B-6EE7-23153021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374145-00EB-1087-41B1-93F8A790E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1915B-7F29-0068-E948-9A3834A5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38EFF0-DEB4-6A57-359F-03025B6E6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31762-E997-CC26-49FD-56285F38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376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E9516-7A13-13BE-0325-DCFC38656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03CD4F-5EA9-EA7C-B851-2A5EF0696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5865D0-F1AF-AB92-A1C4-AE1204C24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729A9-ED5F-7D5C-2C25-87487CD68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1C244-D2D8-A083-24D2-DC1D03B9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DACE65-5F60-D0F0-E13B-CBDFA92D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89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0D2E6-892A-B04B-531C-D0CDADBC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51177-E06F-0036-973E-5160E830A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3BF8F-1CAF-28BE-832F-ECB074ACB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2A2F0-A930-BF85-9C7B-574AEC2A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82C6F-B2E9-2083-4C41-A992D04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8F0077-4107-6801-97EA-5628E0661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F207E3-BC35-09C6-27C9-16EE3CDAD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6663B-F6AB-96AC-F0EC-A9AE183E1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4D07B-D8CD-3815-0D8B-CDDB876ED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6CFEC-835E-88C1-4590-6E50C37C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6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2F515-1A6D-FCC2-60F3-BC1486AE8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D8276-145F-DB80-03BF-5B4E98139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4CFFF-C63B-C778-75FB-61D9C992EC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213E3-49F4-394E-8A63-ADF9BAC5FAA0}" type="datetimeFigureOut">
              <a:rPr lang="en-US" smtClean="0"/>
              <a:t>4/22/25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26D02-AC00-A2AE-932A-69072D86B1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9A2D8F-7075-8708-8958-481484406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02A758-FED3-5F44-B7B4-30F9A3DEC9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01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Futura Medium" panose="020B0602020204020303" pitchFamily="34" charset="-79"/>
          <a:ea typeface="+mj-ea"/>
          <a:cs typeface="Futura Medium" panose="020B0602020204020303" pitchFamily="34" charset="-79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" pitchFamily="2" charset="77"/>
          <a:ea typeface="Palatino" pitchFamily="2" charset="77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" pitchFamily="2" charset="77"/>
          <a:ea typeface="Palatino" pitchFamily="2" charset="77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" pitchFamily="2" charset="77"/>
          <a:ea typeface="Palatino" pitchFamily="2" charset="77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" pitchFamily="2" charset="77"/>
          <a:ea typeface="Palatino" pitchFamily="2" charset="77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" pitchFamily="2" charset="77"/>
          <a:ea typeface="Palatino" pitchFamily="2" charset="77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8445-9127-C9FF-F8F7-C8FE693813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Respiratory virus modelling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F74060-EDD9-A568-0335-CD1CC1A57E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Benjamin J Singer</a:t>
            </a:r>
          </a:p>
          <a:p>
            <a:r>
              <a:rPr lang="en-US" dirty="0" err="1"/>
              <a:t>Lewnard</a:t>
            </a:r>
            <a:r>
              <a:rPr lang="en-US" dirty="0"/>
              <a:t> Group</a:t>
            </a:r>
          </a:p>
          <a:p>
            <a:r>
              <a:rPr lang="en-US" dirty="0"/>
              <a:t>School of Public Health</a:t>
            </a:r>
          </a:p>
          <a:p>
            <a:r>
              <a:rPr lang="en-US" dirty="0"/>
              <a:t>University of California, Berkeley</a:t>
            </a:r>
          </a:p>
        </p:txBody>
      </p:sp>
    </p:spTree>
    <p:extLst>
      <p:ext uri="{BB962C8B-B14F-4D97-AF65-F5344CB8AC3E}">
        <p14:creationId xmlns:p14="http://schemas.microsoft.com/office/powerpoint/2010/main" val="1619170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942D2-8C87-4126-3CE4-B67D47027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Simultaneous data on viral infections provides modelling opportunities</a:t>
            </a:r>
          </a:p>
        </p:txBody>
      </p:sp>
      <p:pic>
        <p:nvPicPr>
          <p:cNvPr id="6" name="Picture 5" descr="A group of colorful bars&#10;&#10;AI-generated content may be incorrect.">
            <a:extLst>
              <a:ext uri="{FF2B5EF4-FFF2-40B4-BE49-F238E27FC236}">
                <a16:creationId xmlns:a16="http://schemas.microsoft.com/office/drawing/2014/main" id="{C5762EBC-C684-CE45-7118-9950D2F5F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0" y="1690688"/>
            <a:ext cx="12143940" cy="4568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936A42-7E2E-23B6-0149-B4854598F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6321425"/>
            <a:ext cx="71120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25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C73D-5B50-FFDE-6A55-82F76536F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B735F-C718-AD93-2CD5-0E67FE917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oup of graphs showing different colors&#10;&#10;Description automatically generated">
            <a:extLst>
              <a:ext uri="{FF2B5EF4-FFF2-40B4-BE49-F238E27FC236}">
                <a16:creationId xmlns:a16="http://schemas.microsoft.com/office/drawing/2014/main" id="{36BFCF59-C47E-56F2-EE08-3A24833EA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-1"/>
            <a:ext cx="12172950" cy="68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194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9D172-8D43-7FBF-54C2-53A24323D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94DFA-EE53-50EF-2466-49C52DFD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9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CA8E529F-9F20-4C0F-809D-BC31D378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38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1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C71D9-35E3-7839-2B7A-9A8FE42E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data could power bigger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B576D-701B-03EB-C1A1-4019DAC5D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KPSC data has limited geographic and SES coverage</a:t>
            </a:r>
          </a:p>
          <a:p>
            <a:endParaRPr lang="en-US" dirty="0"/>
          </a:p>
          <a:p>
            <a:r>
              <a:rPr lang="en-US" dirty="0"/>
              <a:t>NHS data could open up more research</a:t>
            </a:r>
          </a:p>
          <a:p>
            <a:pPr lvl="1"/>
            <a:r>
              <a:rPr lang="en-US" dirty="0"/>
              <a:t>Comparison between regions with different climate could reveal seasonality drivers</a:t>
            </a:r>
          </a:p>
          <a:p>
            <a:pPr lvl="1"/>
            <a:r>
              <a:rPr lang="en-US" dirty="0"/>
              <a:t>Larger data set allows more questions to be asked</a:t>
            </a:r>
          </a:p>
          <a:p>
            <a:pPr lvl="1"/>
            <a:endParaRPr lang="en-US" dirty="0"/>
          </a:p>
          <a:p>
            <a:r>
              <a:rPr lang="en-US" dirty="0"/>
              <a:t>Particularly interesting question: viral interference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402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D745-6CF7-D514-4D86-652281A0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study: Kramer et al. 2024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965F393-B9C2-6AB1-A812-6476762C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444" y="2290883"/>
            <a:ext cx="5368819" cy="30435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211F7B-E7DF-C3FA-BBDF-99EB468B9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998" y="1690688"/>
            <a:ext cx="3551060" cy="4127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D1B3E0-8863-5198-3B48-2A160197936D}"/>
              </a:ext>
            </a:extLst>
          </p:cNvPr>
          <p:cNvSpPr txBox="1"/>
          <p:nvPr/>
        </p:nvSpPr>
        <p:spPr>
          <a:xfrm>
            <a:off x="1006444" y="5934669"/>
            <a:ext cx="98971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alatino" pitchFamily="2" charset="77"/>
                <a:ea typeface="Palatino" pitchFamily="2" charset="77"/>
              </a:rPr>
              <a:t>Sarah C Kramer, Sarah Pirikahu, Jean-Sébastien Casalegno &amp; Matthieu Domenech de Cellès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</a:rPr>
              <a:t>Nature Communications, 2024</a:t>
            </a:r>
          </a:p>
        </p:txBody>
      </p:sp>
    </p:spTree>
    <p:extLst>
      <p:ext uri="{BB962C8B-B14F-4D97-AF65-F5344CB8AC3E}">
        <p14:creationId xmlns:p14="http://schemas.microsoft.com/office/powerpoint/2010/main" val="260122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26E3-D55C-E517-2A49-DD2B8B524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Impact: vaccination timing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8F68D9-3596-672A-7CFA-97C024DFD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5213350"/>
            <a:ext cx="7772400" cy="958710"/>
          </a:xfrm>
          <a:prstGeom prst="rect">
            <a:avLst/>
          </a:prstGeom>
        </p:spPr>
      </p:pic>
      <p:pic>
        <p:nvPicPr>
          <p:cNvPr id="15" name="Content Placeholder 14" descr="A comparison of a graph&#10;&#10;AI-generated content may be incorrect.">
            <a:extLst>
              <a:ext uri="{FF2B5EF4-FFF2-40B4-BE49-F238E27FC236}">
                <a16:creationId xmlns:a16="http://schemas.microsoft.com/office/drawing/2014/main" id="{8C300FE4-1913-E6FF-0B50-C6C5A88C5C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93850" y="1720850"/>
            <a:ext cx="9004300" cy="3492500"/>
          </a:xfrm>
        </p:spPr>
      </p:pic>
    </p:spTree>
    <p:extLst>
      <p:ext uri="{BB962C8B-B14F-4D97-AF65-F5344CB8AC3E}">
        <p14:creationId xmlns:p14="http://schemas.microsoft.com/office/powerpoint/2010/main" val="381227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78320-B093-A62B-08D3-250FB6BA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a future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E3285-24E3-BB74-9E74-D27255E5D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Replicate existing findings</a:t>
            </a:r>
          </a:p>
          <a:p>
            <a:endParaRPr lang="en-US" dirty="0"/>
          </a:p>
          <a:p>
            <a:r>
              <a:rPr lang="en-US" dirty="0"/>
              <a:t>Extend to additional pathogens</a:t>
            </a:r>
          </a:p>
          <a:p>
            <a:endParaRPr lang="en-US" dirty="0"/>
          </a:p>
          <a:p>
            <a:r>
              <a:rPr lang="en-US" dirty="0"/>
              <a:t>Understand the impact on surveillance and emerging diseases</a:t>
            </a:r>
          </a:p>
          <a:p>
            <a:endParaRPr lang="en-US" dirty="0"/>
          </a:p>
          <a:p>
            <a:r>
              <a:rPr lang="en-US" dirty="0"/>
              <a:t>Understand interactions with seasonality</a:t>
            </a:r>
          </a:p>
        </p:txBody>
      </p:sp>
    </p:spTree>
    <p:extLst>
      <p:ext uri="{BB962C8B-B14F-4D97-AF65-F5344CB8AC3E}">
        <p14:creationId xmlns:p14="http://schemas.microsoft.com/office/powerpoint/2010/main" val="2033790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155</Words>
  <Application>Microsoft Macintosh PowerPoint</Application>
  <PresentationFormat>Widescreen</PresentationFormat>
  <Paragraphs>30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Futura Medium</vt:lpstr>
      <vt:lpstr>Palatino</vt:lpstr>
      <vt:lpstr>Office Theme</vt:lpstr>
      <vt:lpstr>Respiratory virus modelling project</vt:lpstr>
      <vt:lpstr>Simultaneous data on viral infections provides modelling opportunities</vt:lpstr>
      <vt:lpstr>PowerPoint Presentation</vt:lpstr>
      <vt:lpstr>PowerPoint Presentation</vt:lpstr>
      <vt:lpstr>More data could power bigger questions</vt:lpstr>
      <vt:lpstr>Existing study: Kramer et al. 2024</vt:lpstr>
      <vt:lpstr>Impact: vaccination timing</vt:lpstr>
      <vt:lpstr>Objectives of a future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Singer</dc:creator>
  <cp:lastModifiedBy>Benjamin Singer</cp:lastModifiedBy>
  <cp:revision>1</cp:revision>
  <dcterms:created xsi:type="dcterms:W3CDTF">2025-04-22T22:16:22Z</dcterms:created>
  <dcterms:modified xsi:type="dcterms:W3CDTF">2025-04-22T23:25:11Z</dcterms:modified>
</cp:coreProperties>
</file>