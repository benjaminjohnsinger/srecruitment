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5" r:id="rId4"/>
    <p:sldId id="257" r:id="rId5"/>
    <p:sldId id="258" r:id="rId6"/>
    <p:sldId id="259" r:id="rId7"/>
    <p:sldId id="261" r:id="rId8"/>
    <p:sldId id="262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6950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Working as part of the CDC Center for Outbreak Analytics Insight Net project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Kaiser Permanente is leading the grant, we’re providing analysis for their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My remit in particular is to produce models of respiratory infectious diseases, and come up with pandemic preparedness insights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data I’m working with is hospital admissions and testing data from across the KPSC system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just got this data last week, and when we plot it we can see some interesting patterns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olidFill>
                  <a:srgbClr val="9A9B99"/>
                </a:solidFill>
                <a:effectLst/>
                <a:latin typeface="Menlo" panose="020B0609030804020204" pitchFamily="49" charset="0"/>
              </a:rPr>
              <a:t>"Los Angeles":10081570,"Kern":887641,"Orange":3168044,"San Diego":3316073,"San Bernardino":2149031,"Riverside":2411439,"Ventura":847263</a:t>
            </a:r>
            <a:endParaRPr lang="en-US" b="0" dirty="0">
              <a:solidFill>
                <a:srgbClr val="C5C8C6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62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hypothesis is that this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model can produce time series similar to what we observe in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not a fully fit model, just playing around with parameters, but it’s a proof of principle that we can capture these dynamics</a:t>
            </a:r>
          </a:p>
          <a:p>
            <a:pPr marL="171450" indent="-171450">
              <a:buFontTx/>
              <a:buChar char="-"/>
            </a:pPr>
            <a:r>
              <a:rPr lang="en-US" dirty="0"/>
              <a:t>Still working on flu a and b but they’re within the </a:t>
            </a:r>
            <a:r>
              <a:rPr lang="en-US" dirty="0" err="1"/>
              <a:t>behaviours</a:t>
            </a:r>
            <a:r>
              <a:rPr lang="en-US" dirty="0"/>
              <a:t> I’ve observed in this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To properly understand impact of susceptible recruitment parameters on rebound, however, we need to compare a lot of possible diseases in parameter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First step is to figure out how to simulate lockdowns more realistically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 immune escape kind of froze in time during lockdowns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joe found study showing no </a:t>
            </a:r>
            <a:r>
              <a:rPr lang="en-US" dirty="0" err="1"/>
              <a:t>rsv</a:t>
            </a:r>
            <a:r>
              <a:rPr lang="en-US" dirty="0"/>
              <a:t> flu interference (</a:t>
            </a:r>
            <a:r>
              <a:rPr lang="en-US" dirty="0" err="1"/>
              <a:t>rsv</a:t>
            </a:r>
            <a:r>
              <a:rPr lang="en-US" dirty="0"/>
              <a:t> actually boosting flu risk)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Then I need to develop a good MCMC algorithm</a:t>
            </a:r>
          </a:p>
          <a:p>
            <a:pPr marL="171450" indent="-171450">
              <a:buFontTx/>
              <a:buChar char="-"/>
            </a:pPr>
            <a:r>
              <a:rPr lang="en-US" dirty="0"/>
              <a:t>Anyone experienced with </a:t>
            </a:r>
            <a:r>
              <a:rPr lang="en-US" dirty="0" err="1"/>
              <a:t>mcmc</a:t>
            </a:r>
            <a:r>
              <a:rPr lang="en-US" dirty="0"/>
              <a:t> who could give me some pointers? Particularly useful to have recs on multi-dimensional proposal distribution and mapping reals to interval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odin</a:t>
            </a:r>
            <a:r>
              <a:rPr lang="en-US" dirty="0"/>
              <a:t> dust package imperial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public health: identifiability of phenomena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6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11/20/24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915687"/>
            <a:ext cx="9402501" cy="3339006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Work in progress:</a:t>
            </a:r>
            <a:b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</a:br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COVID-19 related suppression of infectious diseases as a natural experiment to understand susceptibility dynamics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Postdoc</a:t>
            </a:r>
          </a:p>
          <a:p>
            <a:pPr algn="l"/>
            <a:r>
              <a:rPr lang="en-US" dirty="0" err="1">
                <a:latin typeface="Palatino" pitchFamily="2" charset="77"/>
                <a:ea typeface="Palatino" pitchFamily="2" charset="77"/>
              </a:rPr>
              <a:t>Lewnard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group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UC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outline of a state&#10;&#10;Description automatically generated">
            <a:extLst>
              <a:ext uri="{FF2B5EF4-FFF2-40B4-BE49-F238E27FC236}">
                <a16:creationId xmlns:a16="http://schemas.microsoft.com/office/drawing/2014/main" id="{B5278B01-53FE-1AD3-B26F-F5B4126C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67" y="3753102"/>
            <a:ext cx="2670865" cy="2136692"/>
          </a:xfrm>
          <a:prstGeom prst="rect">
            <a:avLst/>
          </a:prstGeom>
        </p:spPr>
      </p:pic>
      <p:pic>
        <p:nvPicPr>
          <p:cNvPr id="4" name="Picture 3" descr="A black and white cover of a book&#10;&#10;Description automatically generated">
            <a:extLst>
              <a:ext uri="{FF2B5EF4-FFF2-40B4-BE49-F238E27FC236}">
                <a16:creationId xmlns:a16="http://schemas.microsoft.com/office/drawing/2014/main" id="{F9A9E456-A366-DCF5-4833-46499896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0" y="493295"/>
            <a:ext cx="3474349" cy="5730263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1A1AD26-D535-C0D1-9C2F-6172A891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28" y="1186790"/>
            <a:ext cx="2432950" cy="1203252"/>
          </a:xfrm>
          <a:prstGeom prst="rect">
            <a:avLst/>
          </a:prstGeom>
        </p:spPr>
      </p:pic>
      <p:pic>
        <p:nvPicPr>
          <p:cNvPr id="6" name="Picture 5" descr="A logo of a tree&#10;&#10;Description automatically generated">
            <a:extLst>
              <a:ext uri="{FF2B5EF4-FFF2-40B4-BE49-F238E27FC236}">
                <a16:creationId xmlns:a16="http://schemas.microsoft.com/office/drawing/2014/main" id="{96A66AFD-70DA-7542-97C4-9F37DC1F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518416"/>
            <a:ext cx="2540000" cy="2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75CB96A-0FA2-A962-7B2A-9EEBD09B8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4472" y="3114546"/>
            <a:ext cx="3109012" cy="31090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5A2DB70-9271-8EB3-CAEB-7F1AA85184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281" y="3841662"/>
            <a:ext cx="1182126" cy="1936767"/>
          </a:xfrm>
          <a:prstGeom prst="rect">
            <a:avLst/>
          </a:prstGeom>
        </p:spPr>
      </p:pic>
      <p:pic>
        <p:nvPicPr>
          <p:cNvPr id="16" name="Picture 15" descr="A close-up of a microscopic image&#10;&#10;Description automatically generated">
            <a:extLst>
              <a:ext uri="{FF2B5EF4-FFF2-40B4-BE49-F238E27FC236}">
                <a16:creationId xmlns:a16="http://schemas.microsoft.com/office/drawing/2014/main" id="{8510CBF5-C8F3-581B-51ED-561454E42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8553" y="223466"/>
            <a:ext cx="1540849" cy="1186790"/>
          </a:xfrm>
          <a:prstGeom prst="rect">
            <a:avLst/>
          </a:prstGeom>
        </p:spPr>
      </p:pic>
      <p:pic>
        <p:nvPicPr>
          <p:cNvPr id="20" name="Picture 19" descr="A person with a beard and glasses smiling&#10;&#10;Description automatically generated">
            <a:extLst>
              <a:ext uri="{FF2B5EF4-FFF2-40B4-BE49-F238E27FC236}">
                <a16:creationId xmlns:a16="http://schemas.microsoft.com/office/drawing/2014/main" id="{73DA7D97-34EF-99B0-63DB-CB572113E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8693" y="493295"/>
            <a:ext cx="2540000" cy="254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F2851F-5C08-641A-272B-397172712176}"/>
              </a:ext>
            </a:extLst>
          </p:cNvPr>
          <p:cNvCxnSpPr>
            <a:cxnSpLocks/>
          </p:cNvCxnSpPr>
          <p:nvPr/>
        </p:nvCxnSpPr>
        <p:spPr>
          <a:xfrm flipV="1">
            <a:off x="4501516" y="4770304"/>
            <a:ext cx="2117177" cy="760166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2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E9DD-9005-782F-30F4-1119711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Center for Outbreak Analytics—Insight 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09224-F7B9-331E-A768-4D87E9B22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51791"/>
            <a:ext cx="7285095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FCD49A-E091-7506-B013-2D4C517B1F43}"/>
              </a:ext>
            </a:extLst>
          </p:cNvPr>
          <p:cNvSpPr txBox="1"/>
          <p:nvPr/>
        </p:nvSpPr>
        <p:spPr>
          <a:xfrm>
            <a:off x="8123295" y="1875098"/>
            <a:ext cx="3230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Kaiser Permanente Southern California Innovator grant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Partnering to analyze data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Broad pandemic preparedness remit</a:t>
            </a:r>
          </a:p>
        </p:txBody>
      </p:sp>
      <p:pic>
        <p:nvPicPr>
          <p:cNvPr id="1026" name="Picture 2" descr="kaiser-permanente-logo-png-transparent - Cordova Recreation and Park  District">
            <a:extLst>
              <a:ext uri="{FF2B5EF4-FFF2-40B4-BE49-F238E27FC236}">
                <a16:creationId xmlns:a16="http://schemas.microsoft.com/office/drawing/2014/main" id="{DBCD50F3-49D5-3C81-97BB-29339B26E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95" y="3654412"/>
            <a:ext cx="2951577" cy="295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749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oup of graphs showing different types of tests&#10;&#10;Description automatically generated">
            <a:extLst>
              <a:ext uri="{FF2B5EF4-FFF2-40B4-BE49-F238E27FC236}">
                <a16:creationId xmlns:a16="http://schemas.microsoft.com/office/drawing/2014/main" id="{C868BCB9-C628-B613-F65D-828F05CD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showing a number of disease&#10;&#10;Description automatically generated with medium confidence">
            <a:extLst>
              <a:ext uri="{FF2B5EF4-FFF2-40B4-BE49-F238E27FC236}">
                <a16:creationId xmlns:a16="http://schemas.microsoft.com/office/drawing/2014/main" id="{1E0A2B8E-0DAC-69F2-E92E-DD87B9CA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0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7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blue lines&#10;&#10;Description automatically generated">
            <a:extLst>
              <a:ext uri="{FF2B5EF4-FFF2-40B4-BE49-F238E27FC236}">
                <a16:creationId xmlns:a16="http://schemas.microsoft.com/office/drawing/2014/main" id="{1A45A750-1BFC-B979-C8D4-A49AFBB4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5800"/>
            <a:ext cx="5486400" cy="5486400"/>
          </a:xfrm>
          <a:prstGeom prst="rect">
            <a:avLst/>
          </a:prstGeom>
        </p:spPr>
      </p:pic>
      <p:pic>
        <p:nvPicPr>
          <p:cNvPr id="19" name="Picture 18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CCB55AAC-6E72-693B-DA28-09B59AF8F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3" y="68580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graph&#10;&#10;Description automatically generated">
            <a:extLst>
              <a:ext uri="{FF2B5EF4-FFF2-40B4-BE49-F238E27FC236}">
                <a16:creationId xmlns:a16="http://schemas.microsoft.com/office/drawing/2014/main" id="{55666FFB-F44C-569B-4A55-0DA32ABBD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339194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574</Words>
  <Application>Microsoft Macintosh PowerPoint</Application>
  <PresentationFormat>Widescreen</PresentationFormat>
  <Paragraphs>74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Futura Medium</vt:lpstr>
      <vt:lpstr>Helvetica</vt:lpstr>
      <vt:lpstr>Menlo</vt:lpstr>
      <vt:lpstr>Palatino</vt:lpstr>
      <vt:lpstr>Wingdings</vt:lpstr>
      <vt:lpstr>Office Theme</vt:lpstr>
      <vt:lpstr>Work in progress: COVID-19 related suppression of infectious diseases as a natural experiment to understand susceptibility dynamics</vt:lpstr>
      <vt:lpstr>PowerPoint Presentation</vt:lpstr>
      <vt:lpstr>Center for Outbreak Analytics—Insight 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6</cp:revision>
  <dcterms:created xsi:type="dcterms:W3CDTF">2024-11-20T21:22:28Z</dcterms:created>
  <dcterms:modified xsi:type="dcterms:W3CDTF">2024-11-21T18:01:11Z</dcterms:modified>
</cp:coreProperties>
</file>